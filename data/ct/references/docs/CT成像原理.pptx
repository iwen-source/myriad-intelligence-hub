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23"/>
  </p:handoutMasterIdLst>
  <p:sldIdLst>
    <p:sldId id="256" r:id="rId3"/>
    <p:sldId id="269" r:id="rId4"/>
    <p:sldId id="477" r:id="rId5"/>
    <p:sldId id="258" r:id="rId6"/>
    <p:sldId id="1127" r:id="rId8"/>
    <p:sldId id="1124" r:id="rId9"/>
    <p:sldId id="1125" r:id="rId10"/>
    <p:sldId id="1126" r:id="rId11"/>
    <p:sldId id="1128" r:id="rId12"/>
    <p:sldId id="1129" r:id="rId13"/>
    <p:sldId id="1130" r:id="rId14"/>
    <p:sldId id="260" r:id="rId15"/>
    <p:sldId id="380" r:id="rId16"/>
    <p:sldId id="1104" r:id="rId17"/>
    <p:sldId id="538" r:id="rId18"/>
    <p:sldId id="943" r:id="rId19"/>
    <p:sldId id="1114" r:id="rId20"/>
    <p:sldId id="1123" r:id="rId21"/>
    <p:sldId id="261" r:id="rId22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8992" autoAdjust="0"/>
    <p:restoredTop sz="89367" autoAdjust="0"/>
  </p:normalViewPr>
  <p:slideViewPr>
    <p:cSldViewPr snapToGrid="0">
      <p:cViewPr varScale="1">
        <p:scale>
          <a:sx n="117" d="100"/>
          <a:sy n="117" d="100"/>
        </p:scale>
        <p:origin x="110" y="3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143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CE624-3660-4035-AB45-CE49DDC2C6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文本框 10"/>
          <p:cNvSpPr txBox="1"/>
          <p:nvPr userDrawn="1">
            <p:custDataLst>
              <p:tags r:id="rId7"/>
            </p:custDataLst>
          </p:nvPr>
        </p:nvSpPr>
        <p:spPr>
          <a:xfrm>
            <a:off x="1130334" y="5498053"/>
            <a:ext cx="1368028" cy="238423"/>
          </a:xfrm>
          <a:custGeom>
            <a:avLst/>
            <a:gdLst/>
            <a:ahLst/>
            <a:cxnLst/>
            <a:rect l="l" t="t" r="r" b="b"/>
            <a:pathLst>
              <a:path w="1368028" h="238423">
                <a:moveTo>
                  <a:pt x="297954" y="102691"/>
                </a:moveTo>
                <a:cubicBezTo>
                  <a:pt x="285353" y="102691"/>
                  <a:pt x="275555" y="107007"/>
                  <a:pt x="268560" y="115639"/>
                </a:cubicBezTo>
                <a:cubicBezTo>
                  <a:pt x="261565" y="124271"/>
                  <a:pt x="258068" y="136475"/>
                  <a:pt x="258068" y="152251"/>
                </a:cubicBezTo>
                <a:cubicBezTo>
                  <a:pt x="258068" y="185093"/>
                  <a:pt x="271463" y="201513"/>
                  <a:pt x="298252" y="201513"/>
                </a:cubicBezTo>
                <a:cubicBezTo>
                  <a:pt x="323949" y="201513"/>
                  <a:pt x="336798" y="184646"/>
                  <a:pt x="336798" y="150912"/>
                </a:cubicBezTo>
                <a:cubicBezTo>
                  <a:pt x="336798" y="118765"/>
                  <a:pt x="323850" y="102691"/>
                  <a:pt x="297954" y="102691"/>
                </a:cubicBezTo>
                <a:close/>
                <a:moveTo>
                  <a:pt x="814536" y="98673"/>
                </a:moveTo>
                <a:cubicBezTo>
                  <a:pt x="806301" y="98673"/>
                  <a:pt x="799009" y="102046"/>
                  <a:pt x="792659" y="108793"/>
                </a:cubicBezTo>
                <a:cubicBezTo>
                  <a:pt x="786309" y="115540"/>
                  <a:pt x="782340" y="124470"/>
                  <a:pt x="780752" y="135582"/>
                </a:cubicBezTo>
                <a:lnTo>
                  <a:pt x="844451" y="135582"/>
                </a:lnTo>
                <a:cubicBezTo>
                  <a:pt x="844451" y="110976"/>
                  <a:pt x="834479" y="98673"/>
                  <a:pt x="814536" y="98673"/>
                </a:cubicBezTo>
                <a:close/>
                <a:moveTo>
                  <a:pt x="1314748" y="65782"/>
                </a:moveTo>
                <a:cubicBezTo>
                  <a:pt x="1329829" y="65782"/>
                  <a:pt x="1344365" y="68014"/>
                  <a:pt x="1358354" y="72479"/>
                </a:cubicBezTo>
                <a:lnTo>
                  <a:pt x="1358354" y="110282"/>
                </a:lnTo>
                <a:cubicBezTo>
                  <a:pt x="1345555" y="102741"/>
                  <a:pt x="1331466" y="98971"/>
                  <a:pt x="1316087" y="98971"/>
                </a:cubicBezTo>
                <a:cubicBezTo>
                  <a:pt x="1308447" y="98971"/>
                  <a:pt x="1302296" y="100335"/>
                  <a:pt x="1297633" y="103063"/>
                </a:cubicBezTo>
                <a:cubicBezTo>
                  <a:pt x="1292969" y="105792"/>
                  <a:pt x="1290638" y="109389"/>
                  <a:pt x="1290638" y="113853"/>
                </a:cubicBezTo>
                <a:cubicBezTo>
                  <a:pt x="1290638" y="121394"/>
                  <a:pt x="1297583" y="127496"/>
                  <a:pt x="1311474" y="132159"/>
                </a:cubicBezTo>
                <a:cubicBezTo>
                  <a:pt x="1326356" y="137120"/>
                  <a:pt x="1337543" y="141635"/>
                  <a:pt x="1345034" y="145703"/>
                </a:cubicBezTo>
                <a:cubicBezTo>
                  <a:pt x="1352525" y="149771"/>
                  <a:pt x="1358230" y="155128"/>
                  <a:pt x="1362150" y="161776"/>
                </a:cubicBezTo>
                <a:cubicBezTo>
                  <a:pt x="1366069" y="168424"/>
                  <a:pt x="1368028" y="176113"/>
                  <a:pt x="1368028" y="184844"/>
                </a:cubicBezTo>
                <a:cubicBezTo>
                  <a:pt x="1368028" y="201811"/>
                  <a:pt x="1361232" y="214982"/>
                  <a:pt x="1347639" y="224358"/>
                </a:cubicBezTo>
                <a:cubicBezTo>
                  <a:pt x="1334046" y="233735"/>
                  <a:pt x="1315889" y="238423"/>
                  <a:pt x="1293168" y="238423"/>
                </a:cubicBezTo>
                <a:cubicBezTo>
                  <a:pt x="1275308" y="238423"/>
                  <a:pt x="1258788" y="235595"/>
                  <a:pt x="1243608" y="229939"/>
                </a:cubicBezTo>
                <a:lnTo>
                  <a:pt x="1243608" y="190202"/>
                </a:lnTo>
                <a:cubicBezTo>
                  <a:pt x="1260078" y="200223"/>
                  <a:pt x="1276201" y="205234"/>
                  <a:pt x="1291977" y="205234"/>
                </a:cubicBezTo>
                <a:cubicBezTo>
                  <a:pt x="1311821" y="205234"/>
                  <a:pt x="1321743" y="199926"/>
                  <a:pt x="1321743" y="189309"/>
                </a:cubicBezTo>
                <a:cubicBezTo>
                  <a:pt x="1321743" y="181769"/>
                  <a:pt x="1313557" y="175468"/>
                  <a:pt x="1297186" y="170408"/>
                </a:cubicBezTo>
                <a:cubicBezTo>
                  <a:pt x="1276747" y="164058"/>
                  <a:pt x="1262707" y="156989"/>
                  <a:pt x="1255068" y="149200"/>
                </a:cubicBezTo>
                <a:cubicBezTo>
                  <a:pt x="1247428" y="141411"/>
                  <a:pt x="1243608" y="130869"/>
                  <a:pt x="1243608" y="117574"/>
                </a:cubicBezTo>
                <a:cubicBezTo>
                  <a:pt x="1243608" y="101401"/>
                  <a:pt x="1250156" y="88726"/>
                  <a:pt x="1263253" y="79549"/>
                </a:cubicBezTo>
                <a:cubicBezTo>
                  <a:pt x="1276350" y="70371"/>
                  <a:pt x="1293515" y="65782"/>
                  <a:pt x="1314748" y="65782"/>
                </a:cubicBezTo>
                <a:close/>
                <a:moveTo>
                  <a:pt x="1025724" y="65782"/>
                </a:moveTo>
                <a:cubicBezTo>
                  <a:pt x="1062236" y="65782"/>
                  <a:pt x="1080492" y="88404"/>
                  <a:pt x="1080492" y="133648"/>
                </a:cubicBezTo>
                <a:lnTo>
                  <a:pt x="1080492" y="234404"/>
                </a:lnTo>
                <a:lnTo>
                  <a:pt x="1032718" y="234404"/>
                </a:lnTo>
                <a:lnTo>
                  <a:pt x="1032718" y="142577"/>
                </a:lnTo>
                <a:cubicBezTo>
                  <a:pt x="1032718" y="115987"/>
                  <a:pt x="1023144" y="102691"/>
                  <a:pt x="1003995" y="102691"/>
                </a:cubicBezTo>
                <a:cubicBezTo>
                  <a:pt x="994866" y="102691"/>
                  <a:pt x="987276" y="106238"/>
                  <a:pt x="981224" y="113333"/>
                </a:cubicBezTo>
                <a:cubicBezTo>
                  <a:pt x="975172" y="120427"/>
                  <a:pt x="972145" y="129480"/>
                  <a:pt x="972145" y="140494"/>
                </a:cubicBezTo>
                <a:lnTo>
                  <a:pt x="972145" y="234404"/>
                </a:lnTo>
                <a:lnTo>
                  <a:pt x="924074" y="234404"/>
                </a:lnTo>
                <a:lnTo>
                  <a:pt x="924074" y="69800"/>
                </a:lnTo>
                <a:lnTo>
                  <a:pt x="972145" y="69800"/>
                </a:lnTo>
                <a:lnTo>
                  <a:pt x="972145" y="95994"/>
                </a:lnTo>
                <a:lnTo>
                  <a:pt x="972741" y="95994"/>
                </a:lnTo>
                <a:cubicBezTo>
                  <a:pt x="984746" y="75853"/>
                  <a:pt x="1002407" y="65782"/>
                  <a:pt x="1025724" y="65782"/>
                </a:cubicBezTo>
                <a:close/>
                <a:moveTo>
                  <a:pt x="814834" y="65782"/>
                </a:moveTo>
                <a:cubicBezTo>
                  <a:pt x="838150" y="65782"/>
                  <a:pt x="856382" y="72851"/>
                  <a:pt x="869528" y="86990"/>
                </a:cubicBezTo>
                <a:cubicBezTo>
                  <a:pt x="882675" y="101129"/>
                  <a:pt x="889248" y="120551"/>
                  <a:pt x="889248" y="145256"/>
                </a:cubicBezTo>
                <a:lnTo>
                  <a:pt x="889248" y="165646"/>
                </a:lnTo>
                <a:lnTo>
                  <a:pt x="780901" y="165646"/>
                </a:lnTo>
                <a:cubicBezTo>
                  <a:pt x="782588" y="191145"/>
                  <a:pt x="797967" y="203894"/>
                  <a:pt x="827038" y="203894"/>
                </a:cubicBezTo>
                <a:cubicBezTo>
                  <a:pt x="845195" y="203894"/>
                  <a:pt x="861219" y="199430"/>
                  <a:pt x="875109" y="190500"/>
                </a:cubicBezTo>
                <a:lnTo>
                  <a:pt x="875109" y="225772"/>
                </a:lnTo>
                <a:cubicBezTo>
                  <a:pt x="860127" y="234206"/>
                  <a:pt x="840482" y="238423"/>
                  <a:pt x="816173" y="238423"/>
                </a:cubicBezTo>
                <a:cubicBezTo>
                  <a:pt x="789980" y="238423"/>
                  <a:pt x="769615" y="231031"/>
                  <a:pt x="755079" y="216247"/>
                </a:cubicBezTo>
                <a:cubicBezTo>
                  <a:pt x="740544" y="201464"/>
                  <a:pt x="733276" y="180876"/>
                  <a:pt x="733276" y="154484"/>
                </a:cubicBezTo>
                <a:cubicBezTo>
                  <a:pt x="733276" y="128191"/>
                  <a:pt x="741015" y="106834"/>
                  <a:pt x="756493" y="90413"/>
                </a:cubicBezTo>
                <a:cubicBezTo>
                  <a:pt x="771971" y="73992"/>
                  <a:pt x="791418" y="65782"/>
                  <a:pt x="814834" y="65782"/>
                </a:cubicBezTo>
                <a:close/>
                <a:moveTo>
                  <a:pt x="520898" y="65782"/>
                </a:moveTo>
                <a:cubicBezTo>
                  <a:pt x="557411" y="65782"/>
                  <a:pt x="575667" y="88404"/>
                  <a:pt x="575667" y="133648"/>
                </a:cubicBezTo>
                <a:lnTo>
                  <a:pt x="575667" y="234404"/>
                </a:lnTo>
                <a:lnTo>
                  <a:pt x="527893" y="234404"/>
                </a:lnTo>
                <a:lnTo>
                  <a:pt x="527893" y="142577"/>
                </a:lnTo>
                <a:cubicBezTo>
                  <a:pt x="527893" y="115987"/>
                  <a:pt x="518319" y="102691"/>
                  <a:pt x="499170" y="102691"/>
                </a:cubicBezTo>
                <a:cubicBezTo>
                  <a:pt x="490041" y="102691"/>
                  <a:pt x="482451" y="106238"/>
                  <a:pt x="476399" y="113333"/>
                </a:cubicBezTo>
                <a:cubicBezTo>
                  <a:pt x="470346" y="120427"/>
                  <a:pt x="467320" y="129480"/>
                  <a:pt x="467320" y="140494"/>
                </a:cubicBezTo>
                <a:lnTo>
                  <a:pt x="467320" y="234404"/>
                </a:lnTo>
                <a:lnTo>
                  <a:pt x="419249" y="234404"/>
                </a:lnTo>
                <a:lnTo>
                  <a:pt x="419249" y="69800"/>
                </a:lnTo>
                <a:lnTo>
                  <a:pt x="467320" y="69800"/>
                </a:lnTo>
                <a:lnTo>
                  <a:pt x="467320" y="95994"/>
                </a:lnTo>
                <a:lnTo>
                  <a:pt x="467916" y="95994"/>
                </a:lnTo>
                <a:cubicBezTo>
                  <a:pt x="479921" y="75853"/>
                  <a:pt x="497582" y="65782"/>
                  <a:pt x="520898" y="65782"/>
                </a:cubicBezTo>
                <a:close/>
                <a:moveTo>
                  <a:pt x="299145" y="65782"/>
                </a:moveTo>
                <a:cubicBezTo>
                  <a:pt x="325636" y="65782"/>
                  <a:pt x="346670" y="73397"/>
                  <a:pt x="362248" y="88627"/>
                </a:cubicBezTo>
                <a:cubicBezTo>
                  <a:pt x="377825" y="103857"/>
                  <a:pt x="385614" y="124321"/>
                  <a:pt x="385614" y="150019"/>
                </a:cubicBezTo>
                <a:cubicBezTo>
                  <a:pt x="385614" y="177006"/>
                  <a:pt x="377627" y="198487"/>
                  <a:pt x="361652" y="214461"/>
                </a:cubicBezTo>
                <a:cubicBezTo>
                  <a:pt x="345678" y="230435"/>
                  <a:pt x="324048" y="238423"/>
                  <a:pt x="296763" y="238423"/>
                </a:cubicBezTo>
                <a:cubicBezTo>
                  <a:pt x="269974" y="238423"/>
                  <a:pt x="248717" y="230758"/>
                  <a:pt x="232990" y="215429"/>
                </a:cubicBezTo>
                <a:cubicBezTo>
                  <a:pt x="217264" y="200099"/>
                  <a:pt x="209401" y="179239"/>
                  <a:pt x="209401" y="152846"/>
                </a:cubicBezTo>
                <a:cubicBezTo>
                  <a:pt x="209401" y="125760"/>
                  <a:pt x="217512" y="104477"/>
                  <a:pt x="233735" y="88999"/>
                </a:cubicBezTo>
                <a:cubicBezTo>
                  <a:pt x="249957" y="73521"/>
                  <a:pt x="271760" y="65782"/>
                  <a:pt x="299145" y="65782"/>
                </a:cubicBezTo>
                <a:close/>
                <a:moveTo>
                  <a:pt x="1183481" y="19943"/>
                </a:moveTo>
                <a:lnTo>
                  <a:pt x="1183481" y="69800"/>
                </a:lnTo>
                <a:lnTo>
                  <a:pt x="1220986" y="69800"/>
                </a:lnTo>
                <a:lnTo>
                  <a:pt x="1220986" y="105668"/>
                </a:lnTo>
                <a:lnTo>
                  <a:pt x="1183481" y="105668"/>
                </a:lnTo>
                <a:lnTo>
                  <a:pt x="1183481" y="175022"/>
                </a:lnTo>
                <a:cubicBezTo>
                  <a:pt x="1183481" y="192584"/>
                  <a:pt x="1190427" y="201364"/>
                  <a:pt x="1204317" y="201364"/>
                </a:cubicBezTo>
                <a:cubicBezTo>
                  <a:pt x="1209675" y="201364"/>
                  <a:pt x="1215231" y="199777"/>
                  <a:pt x="1220986" y="196602"/>
                </a:cubicBezTo>
                <a:lnTo>
                  <a:pt x="1220986" y="232469"/>
                </a:lnTo>
                <a:cubicBezTo>
                  <a:pt x="1213743" y="236438"/>
                  <a:pt x="1202779" y="238423"/>
                  <a:pt x="1188095" y="238423"/>
                </a:cubicBezTo>
                <a:cubicBezTo>
                  <a:pt x="1153170" y="238423"/>
                  <a:pt x="1135708" y="220067"/>
                  <a:pt x="1135708" y="183356"/>
                </a:cubicBezTo>
                <a:lnTo>
                  <a:pt x="1135708" y="105668"/>
                </a:lnTo>
                <a:lnTo>
                  <a:pt x="1108621" y="105668"/>
                </a:lnTo>
                <a:lnTo>
                  <a:pt x="1108621" y="69800"/>
                </a:lnTo>
                <a:lnTo>
                  <a:pt x="1135708" y="69800"/>
                </a:lnTo>
                <a:lnTo>
                  <a:pt x="1135708" y="33635"/>
                </a:lnTo>
                <a:close/>
                <a:moveTo>
                  <a:pt x="678656" y="19943"/>
                </a:moveTo>
                <a:lnTo>
                  <a:pt x="678656" y="69800"/>
                </a:lnTo>
                <a:lnTo>
                  <a:pt x="716161" y="69800"/>
                </a:lnTo>
                <a:lnTo>
                  <a:pt x="716161" y="105668"/>
                </a:lnTo>
                <a:lnTo>
                  <a:pt x="678656" y="105668"/>
                </a:lnTo>
                <a:lnTo>
                  <a:pt x="678656" y="175022"/>
                </a:lnTo>
                <a:cubicBezTo>
                  <a:pt x="678656" y="192584"/>
                  <a:pt x="685602" y="201364"/>
                  <a:pt x="699492" y="201364"/>
                </a:cubicBezTo>
                <a:cubicBezTo>
                  <a:pt x="704850" y="201364"/>
                  <a:pt x="710406" y="199777"/>
                  <a:pt x="716161" y="196602"/>
                </a:cubicBezTo>
                <a:lnTo>
                  <a:pt x="716161" y="232469"/>
                </a:lnTo>
                <a:cubicBezTo>
                  <a:pt x="708918" y="236438"/>
                  <a:pt x="697954" y="238423"/>
                  <a:pt x="683270" y="238423"/>
                </a:cubicBezTo>
                <a:cubicBezTo>
                  <a:pt x="648345" y="238423"/>
                  <a:pt x="630882" y="220067"/>
                  <a:pt x="630882" y="183356"/>
                </a:cubicBezTo>
                <a:lnTo>
                  <a:pt x="630882" y="105668"/>
                </a:lnTo>
                <a:lnTo>
                  <a:pt x="603796" y="105668"/>
                </a:lnTo>
                <a:lnTo>
                  <a:pt x="603796" y="69800"/>
                </a:lnTo>
                <a:lnTo>
                  <a:pt x="630882" y="69800"/>
                </a:lnTo>
                <a:lnTo>
                  <a:pt x="630882" y="33635"/>
                </a:lnTo>
                <a:close/>
                <a:moveTo>
                  <a:pt x="122337" y="0"/>
                </a:moveTo>
                <a:cubicBezTo>
                  <a:pt x="144859" y="0"/>
                  <a:pt x="163711" y="2927"/>
                  <a:pt x="178891" y="8781"/>
                </a:cubicBezTo>
                <a:lnTo>
                  <a:pt x="178891" y="56257"/>
                </a:lnTo>
                <a:cubicBezTo>
                  <a:pt x="163314" y="47129"/>
                  <a:pt x="145653" y="42565"/>
                  <a:pt x="125909" y="42565"/>
                </a:cubicBezTo>
                <a:cubicBezTo>
                  <a:pt x="103386" y="42565"/>
                  <a:pt x="85378" y="49758"/>
                  <a:pt x="71884" y="64145"/>
                </a:cubicBezTo>
                <a:cubicBezTo>
                  <a:pt x="58390" y="78532"/>
                  <a:pt x="51643" y="97334"/>
                  <a:pt x="51643" y="120551"/>
                </a:cubicBezTo>
                <a:cubicBezTo>
                  <a:pt x="51643" y="143173"/>
                  <a:pt x="58043" y="161379"/>
                  <a:pt x="70842" y="175171"/>
                </a:cubicBezTo>
                <a:cubicBezTo>
                  <a:pt x="83641" y="188962"/>
                  <a:pt x="100955" y="195858"/>
                  <a:pt x="122783" y="195858"/>
                </a:cubicBezTo>
                <a:cubicBezTo>
                  <a:pt x="143321" y="195858"/>
                  <a:pt x="162024" y="190897"/>
                  <a:pt x="178891" y="180975"/>
                </a:cubicBezTo>
                <a:lnTo>
                  <a:pt x="178891" y="226070"/>
                </a:lnTo>
                <a:cubicBezTo>
                  <a:pt x="162123" y="234305"/>
                  <a:pt x="140246" y="238423"/>
                  <a:pt x="113258" y="238423"/>
                </a:cubicBezTo>
                <a:cubicBezTo>
                  <a:pt x="78532" y="238423"/>
                  <a:pt x="50974" y="228029"/>
                  <a:pt x="30584" y="207243"/>
                </a:cubicBezTo>
                <a:cubicBezTo>
                  <a:pt x="10195" y="186457"/>
                  <a:pt x="0" y="158750"/>
                  <a:pt x="0" y="124123"/>
                </a:cubicBezTo>
                <a:cubicBezTo>
                  <a:pt x="0" y="87709"/>
                  <a:pt x="11385" y="57919"/>
                  <a:pt x="34156" y="34751"/>
                </a:cubicBezTo>
                <a:cubicBezTo>
                  <a:pt x="56927" y="11584"/>
                  <a:pt x="86320" y="0"/>
                  <a:pt x="1223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indent="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  <a:latin typeface="+mn-ea"/>
                <a:cs typeface="+mn-ea"/>
                <a:sym typeface="+mn-ea"/>
              </a:defRPr>
            </a:lvl1pPr>
            <a:lvl2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2pPr>
            <a:lvl3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3pPr>
            <a:lvl4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4pPr>
            <a:lvl5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 userDrawn="1"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square" anchor="b">
            <a:normAutofit/>
          </a:bodyPr>
          <a:lstStyle>
            <a:lvl1pPr marL="0" indent="0" algn="l">
              <a:buNone/>
              <a:defRPr sz="60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 userDrawn="1"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7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图片 8" descr="C:/Users/kingsoft/AppData/Local/Temp/fig2wpp/@svg_UnionUnion_#color-2113&amp;643.svg"/>
          <p:cNvSpPr/>
          <p:nvPr userDrawn="1">
            <p:custDataLst>
              <p:tags r:id="rId13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8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tags" Target="../tags/tag7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8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ags" Target="../tags/tag8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tags" Target="../tags/tag9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94.xml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tags" Target="../tags/tag93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6.xml"/><Relationship Id="rId2" Type="http://schemas.openxmlformats.org/officeDocument/2006/relationships/image" Target="../media/image11.jpeg"/><Relationship Id="rId1" Type="http://schemas.openxmlformats.org/officeDocument/2006/relationships/tags" Target="../tags/tag9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image" Target="../media/image18.jpeg"/><Relationship Id="rId7" Type="http://schemas.openxmlformats.org/officeDocument/2006/relationships/image" Target="../media/image17.svg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0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03.xml"/><Relationship Id="rId6" Type="http://schemas.openxmlformats.org/officeDocument/2006/relationships/image" Target="../media/image23.jpe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tags" Target="../tags/tag10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image" Target="../media/image24.png"/><Relationship Id="rId2" Type="http://schemas.openxmlformats.org/officeDocument/2006/relationships/tags" Target="../tags/tag108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21.xml"/><Relationship Id="rId15" Type="http://schemas.openxmlformats.org/officeDocument/2006/relationships/tags" Target="../tags/tag120.xml"/><Relationship Id="rId14" Type="http://schemas.openxmlformats.org/officeDocument/2006/relationships/tags" Target="../tags/tag119.xml"/><Relationship Id="rId13" Type="http://schemas.openxmlformats.org/officeDocument/2006/relationships/tags" Target="../tags/tag118.xml"/><Relationship Id="rId12" Type="http://schemas.openxmlformats.org/officeDocument/2006/relationships/tags" Target="../tags/tag117.xml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tags" Target="../tags/tag107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image" Target="../media/image24.png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image" Target="../media/image24.png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image" Target="../media/image25.png"/><Relationship Id="rId4" Type="http://schemas.openxmlformats.org/officeDocument/2006/relationships/tags" Target="../tags/tag135.xml"/><Relationship Id="rId3" Type="http://schemas.openxmlformats.org/officeDocument/2006/relationships/image" Target="../media/image24.png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0.xml"/><Relationship Id="rId3" Type="http://schemas.openxmlformats.org/officeDocument/2006/relationships/image" Target="../media/image24.png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CT</a:t>
            </a:r>
            <a:r>
              <a:rPr lang="zh-CN" altLang="en-US" dirty="0"/>
              <a:t>成像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1094105" y="5676265"/>
            <a:ext cx="10043160" cy="780415"/>
          </a:xfrm>
        </p:spPr>
        <p:txBody>
          <a:bodyPr wrap="square">
            <a:normAutofit/>
          </a:bodyPr>
          <a:lstStyle/>
          <a:p>
            <a:r>
              <a:rPr lang="zh-CN" altLang="en-US" b="1" dirty="0"/>
              <a:t>李永春</a:t>
            </a:r>
            <a:endParaRPr lang="zh-CN" altLang="en-US" b="1" dirty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grpSp>
        <p:nvGrpSpPr>
          <p:cNvPr id="14" name="组合 13"/>
          <p:cNvGrpSpPr/>
          <p:nvPr/>
        </p:nvGrpSpPr>
        <p:grpSpPr>
          <a:xfrm>
            <a:off x="6003290" y="4824730"/>
            <a:ext cx="5019040" cy="534035"/>
            <a:chOff x="9368" y="5620"/>
            <a:chExt cx="7904" cy="841"/>
          </a:xfrm>
        </p:grpSpPr>
        <p:sp>
          <p:nvSpPr>
            <p:cNvPr id="2" name="序号"/>
            <p:cNvSpPr txBox="1"/>
            <p:nvPr>
              <p:custDataLst>
                <p:tags r:id="rId2"/>
              </p:custDataLst>
            </p:nvPr>
          </p:nvSpPr>
          <p:spPr>
            <a:xfrm>
              <a:off x="9368" y="5667"/>
              <a:ext cx="1217" cy="79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p>
              <a:pPr algn="r">
                <a:lnSpc>
                  <a:spcPct val="100000"/>
                </a:lnSpc>
              </a:pPr>
              <a:r>
                <a:rPr lang="en-US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04</a:t>
              </a:r>
              <a:endParaRPr lang="en-US" b="1" dirty="0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3" name="项标题"/>
            <p:cNvSpPr txBox="1"/>
            <p:nvPr>
              <p:custDataLst>
                <p:tags r:id="rId3"/>
              </p:custDataLst>
            </p:nvPr>
          </p:nvSpPr>
          <p:spPr>
            <a:xfrm>
              <a:off x="10800" y="5620"/>
              <a:ext cx="6472" cy="79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p>
              <a:pPr>
                <a:lnSpc>
                  <a:spcPct val="100000"/>
                </a:lnSpc>
              </a:pPr>
              <a:r>
                <a:rPr lang="zh-CN" altLang="en-US" spc="300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原始</a:t>
              </a:r>
              <a:r>
                <a:rPr lang="en-US" altLang="zh-CN" spc="300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CT</a:t>
              </a:r>
              <a:r>
                <a:rPr lang="zh-CN" altLang="en-US" spc="300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数据文件</a:t>
              </a:r>
              <a:endParaRPr lang="zh-CN" altLang="en-US" spc="300" dirty="0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003290" y="5342890"/>
            <a:ext cx="5072380" cy="504190"/>
            <a:chOff x="9368" y="6995"/>
            <a:chExt cx="7988" cy="794"/>
          </a:xfrm>
        </p:grpSpPr>
        <p:sp>
          <p:nvSpPr>
            <p:cNvPr id="7" name="序号"/>
            <p:cNvSpPr txBox="1"/>
            <p:nvPr>
              <p:custDataLst>
                <p:tags r:id="rId4"/>
              </p:custDataLst>
            </p:nvPr>
          </p:nvSpPr>
          <p:spPr>
            <a:xfrm>
              <a:off x="9368" y="6995"/>
              <a:ext cx="1217" cy="79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p>
              <a:pPr algn="r">
                <a:lnSpc>
                  <a:spcPct val="100000"/>
                </a:lnSpc>
              </a:pPr>
              <a:r>
                <a:rPr lang="en-US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05</a:t>
              </a:r>
              <a:endParaRPr lang="en-US" b="1" dirty="0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8" name="项标题"/>
            <p:cNvSpPr txBox="1"/>
            <p:nvPr>
              <p:custDataLst>
                <p:tags r:id="rId5"/>
              </p:custDataLst>
            </p:nvPr>
          </p:nvSpPr>
          <p:spPr>
            <a:xfrm>
              <a:off x="10884" y="6995"/>
              <a:ext cx="6472" cy="79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p>
              <a:pPr>
                <a:lnSpc>
                  <a:spcPct val="100000"/>
                </a:lnSpc>
              </a:pPr>
              <a:r>
                <a:rPr lang="zh-CN" altLang="en-US" spc="300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加载单个</a:t>
              </a:r>
              <a:r>
                <a:rPr lang="en-US" altLang="zh-CN" spc="300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CT</a:t>
              </a:r>
              <a:r>
                <a:rPr lang="zh-CN" altLang="en-US" spc="300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扫描</a:t>
              </a:r>
              <a:endParaRPr lang="zh-CN" altLang="en-US" spc="300" dirty="0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003290" y="3329940"/>
            <a:ext cx="5072380" cy="504190"/>
            <a:chOff x="9368" y="5003"/>
            <a:chExt cx="7988" cy="794"/>
          </a:xfrm>
        </p:grpSpPr>
        <p:sp>
          <p:nvSpPr>
            <p:cNvPr id="9" name="序号"/>
            <p:cNvSpPr txBox="1"/>
            <p:nvPr>
              <p:custDataLst>
                <p:tags r:id="rId6"/>
              </p:custDataLst>
            </p:nvPr>
          </p:nvSpPr>
          <p:spPr>
            <a:xfrm>
              <a:off x="9368" y="5003"/>
              <a:ext cx="1217" cy="79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p>
              <a:pPr algn="r">
                <a:lnSpc>
                  <a:spcPct val="100000"/>
                </a:lnSpc>
              </a:pPr>
              <a:r>
                <a:rPr lang="en-US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01</a:t>
              </a:r>
              <a:endParaRPr lang="en-US" b="1" dirty="0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10" name="项标题"/>
            <p:cNvSpPr txBox="1"/>
            <p:nvPr>
              <p:custDataLst>
                <p:tags r:id="rId7"/>
              </p:custDataLst>
            </p:nvPr>
          </p:nvSpPr>
          <p:spPr>
            <a:xfrm>
              <a:off x="10884" y="5003"/>
              <a:ext cx="6472" cy="79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p>
              <a:pPr>
                <a:lnSpc>
                  <a:spcPct val="100000"/>
                </a:lnSpc>
              </a:pPr>
              <a:r>
                <a:rPr lang="zh-CN" altLang="en-US" spc="300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概述</a:t>
              </a:r>
              <a:endParaRPr lang="zh-CN" altLang="en-US" spc="300" dirty="0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003290" y="4336415"/>
            <a:ext cx="5072380" cy="504190"/>
            <a:chOff x="9368" y="6995"/>
            <a:chExt cx="7988" cy="794"/>
          </a:xfrm>
        </p:grpSpPr>
        <p:sp>
          <p:nvSpPr>
            <p:cNvPr id="19" name="序号"/>
            <p:cNvSpPr txBox="1"/>
            <p:nvPr>
              <p:custDataLst>
                <p:tags r:id="rId8"/>
              </p:custDataLst>
            </p:nvPr>
          </p:nvSpPr>
          <p:spPr>
            <a:xfrm>
              <a:off x="9368" y="6995"/>
              <a:ext cx="1217" cy="79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p>
              <a:pPr algn="r">
                <a:lnSpc>
                  <a:spcPct val="100000"/>
                </a:lnSpc>
              </a:pPr>
              <a:r>
                <a:rPr lang="en-US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03</a:t>
              </a:r>
              <a:endParaRPr lang="en-US" b="1" dirty="0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20" name="项标题"/>
            <p:cNvSpPr txBox="1"/>
            <p:nvPr>
              <p:custDataLst>
                <p:tags r:id="rId9"/>
              </p:custDataLst>
            </p:nvPr>
          </p:nvSpPr>
          <p:spPr>
            <a:xfrm>
              <a:off x="10884" y="6995"/>
              <a:ext cx="6472" cy="79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p>
              <a:pPr>
                <a:lnSpc>
                  <a:spcPct val="100000"/>
                </a:lnSpc>
              </a:pPr>
              <a:r>
                <a:rPr lang="zh-CN" altLang="en-US" spc="300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定位与观测</a:t>
              </a:r>
              <a:r>
                <a:rPr lang="zh-CN" altLang="en-US" spc="300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体系</a:t>
              </a:r>
              <a:endParaRPr lang="zh-CN" altLang="en-US" spc="300" dirty="0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003290" y="3818255"/>
            <a:ext cx="5019040" cy="534035"/>
            <a:chOff x="9368" y="5620"/>
            <a:chExt cx="7904" cy="841"/>
          </a:xfrm>
        </p:grpSpPr>
        <p:sp>
          <p:nvSpPr>
            <p:cNvPr id="6" name="序号"/>
            <p:cNvSpPr txBox="1"/>
            <p:nvPr>
              <p:custDataLst>
                <p:tags r:id="rId10"/>
              </p:custDataLst>
            </p:nvPr>
          </p:nvSpPr>
          <p:spPr>
            <a:xfrm>
              <a:off x="9368" y="5667"/>
              <a:ext cx="1217" cy="79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p>
              <a:pPr algn="r">
                <a:lnSpc>
                  <a:spcPct val="100000"/>
                </a:lnSpc>
              </a:pPr>
              <a:r>
                <a:rPr lang="en-US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02</a:t>
              </a:r>
              <a:endParaRPr lang="en-US" b="1" dirty="0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11" name="项标题"/>
            <p:cNvSpPr txBox="1"/>
            <p:nvPr>
              <p:custDataLst>
                <p:tags r:id="rId11"/>
              </p:custDataLst>
            </p:nvPr>
          </p:nvSpPr>
          <p:spPr>
            <a:xfrm>
              <a:off x="10800" y="5620"/>
              <a:ext cx="6472" cy="79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p>
              <a:pPr>
                <a:lnSpc>
                  <a:spcPct val="100000"/>
                </a:lnSpc>
              </a:pPr>
              <a:r>
                <a:rPr lang="zh-CN" altLang="en-US" spc="300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成像</a:t>
              </a:r>
              <a:r>
                <a:rPr lang="zh-CN" altLang="en-US" spc="300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过程</a:t>
              </a:r>
              <a:endParaRPr lang="zh-CN" altLang="en-US" spc="300" dirty="0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</p:grp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16330" y="3896360"/>
            <a:ext cx="8433435" cy="726440"/>
          </a:xfrm>
        </p:spPr>
        <p:txBody>
          <a:bodyPr wrap="square">
            <a:normAutofit/>
          </a:bodyPr>
          <a:lstStyle/>
          <a:p>
            <a:r>
              <a:rPr lang="zh-CN" altLang="en-US" sz="4400" spc="300" dirty="0">
                <a:latin typeface="+mn-ea"/>
                <a:cs typeface="+mn-ea"/>
                <a:sym typeface="+mn-ea"/>
              </a:rPr>
              <a:t>概述</a:t>
            </a:r>
            <a:endParaRPr lang="zh-CN" altLang="en-US" sz="4400" spc="300" dirty="0">
              <a:latin typeface="+mn-ea"/>
              <a:cs typeface="+mn-ea"/>
              <a:sym typeface="+mn-ea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sz="2800">
                <a:solidFill>
                  <a:schemeClr val="accent1"/>
                </a:solidFill>
              </a:rPr>
              <a:t>概述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---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什么是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CT</a:t>
            </a:r>
            <a:endParaRPr lang="en-US" altLang="zh-CN" sz="180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sp>
        <p:nvSpPr>
          <p:cNvPr id="11" name="AutoShape 4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F0F9F8">
              <a:alpha val="100000"/>
            </a:srgbClr>
          </a:solidFill>
          <a:ln w="12700" cap="flat" cmpd="sng">
            <a:solidFill>
              <a:srgbClr val="00BFA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78000"/>
            <a:ext cx="355600" cy="355600"/>
          </a:xfrm>
          <a:prstGeom prst="rect">
            <a:avLst/>
          </a:prstGeom>
        </p:spPr>
      </p:pic>
      <p:sp>
        <p:nvSpPr>
          <p:cNvPr id="13" name="AutoShape 6"/>
          <p:cNvSpPr/>
          <p:nvPr/>
        </p:nvSpPr>
        <p:spPr>
          <a:xfrm>
            <a:off x="1524000" y="1651000"/>
            <a:ext cx="965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CT (Computed Tomography，电子计算机断层扫描) 是一种利用X射线与计算机技术，对人体进行连续“切片”扫描并重建出三维图像的医学影像技术。它彻底改变了传统X光片的二维重叠模式，能获取清晰、无重叠的横断面解剖图像。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utoShape 7"/>
          <p:cNvSpPr/>
          <p:nvPr/>
        </p:nvSpPr>
        <p:spPr>
          <a:xfrm>
            <a:off x="762000" y="3175000"/>
            <a:ext cx="5207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Picture 8"/>
          <p:cNvPicPr>
            <a:picLocks noChangeAspect="1"/>
          </p:cNvPicPr>
          <p:nvPr/>
        </p:nvPicPr>
        <p:blipFill>
          <a:blip r:embed="rId4"/>
          <a:srcRect l="23684" r="23684"/>
          <a:stretch>
            <a:fillRect/>
          </a:stretch>
        </p:blipFill>
        <p:spPr>
          <a:xfrm>
            <a:off x="952500" y="3429000"/>
            <a:ext cx="1905000" cy="2413000"/>
          </a:xfrm>
          <a:prstGeom prst="roundRect">
            <a:avLst>
              <a:gd name="adj" fmla="val 5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9"/>
          <p:cNvSpPr/>
          <p:nvPr/>
        </p:nvSpPr>
        <p:spPr>
          <a:xfrm>
            <a:off x="3048000" y="3492500"/>
            <a:ext cx="2667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传统X光片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采用重叠成像模式，体内前后脏器与骨骼结构堆叠在一起，细节模糊。</a:t>
            </a:r>
            <a:endParaRPr lang="en-US" sz="13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9999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⚠️ 结构复杂，微小病变难以分辨。</a:t>
            </a:r>
            <a:endParaRPr lang="en-US" sz="1300" b="0" i="0" u="none" strike="noStrike">
              <a:solidFill>
                <a:srgbClr val="9999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7" name="AutoShape 10"/>
          <p:cNvSpPr/>
          <p:nvPr/>
        </p:nvSpPr>
        <p:spPr>
          <a:xfrm>
            <a:off x="6223000" y="3175000"/>
            <a:ext cx="5207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Picture 11"/>
          <p:cNvPicPr>
            <a:picLocks noChangeAspect="1"/>
          </p:cNvPicPr>
          <p:nvPr/>
        </p:nvPicPr>
        <p:blipFill>
          <a:blip r:embed="rId5"/>
          <a:srcRect t="10609" b="10609"/>
          <a:stretch>
            <a:fillRect/>
          </a:stretch>
        </p:blipFill>
        <p:spPr>
          <a:xfrm>
            <a:off x="6413500" y="3429000"/>
            <a:ext cx="1905000" cy="2413000"/>
          </a:xfrm>
          <a:prstGeom prst="roundRect">
            <a:avLst>
              <a:gd name="adj" fmla="val 5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2"/>
          <p:cNvSpPr/>
          <p:nvPr/>
        </p:nvSpPr>
        <p:spPr>
          <a:xfrm>
            <a:off x="8509000" y="3492500"/>
            <a:ext cx="2667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00BF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CT 断层扫描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如同“切面包”一样对人体进行断层扫描，能清晰展示某一特定层面的内部解剖结构，层次分明。</a:t>
            </a:r>
            <a:endParaRPr lang="en-US" sz="13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00BF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✅ 消除重叠干扰，实现精准诊断。</a:t>
            </a:r>
            <a:endParaRPr lang="en-US" sz="1300" b="0" i="0" u="none" strike="noStrike">
              <a:solidFill>
                <a:srgbClr val="00BF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16330" y="3896360"/>
            <a:ext cx="8433435" cy="726440"/>
          </a:xfrm>
        </p:spPr>
        <p:txBody>
          <a:bodyPr wrap="square">
            <a:normAutofit/>
          </a:bodyPr>
          <a:lstStyle/>
          <a:p>
            <a:r>
              <a:rPr lang="zh-CN" altLang="en-US" sz="4400" spc="300" dirty="0">
                <a:latin typeface="+mn-ea"/>
                <a:cs typeface="+mn-ea"/>
                <a:sym typeface="+mn-ea"/>
              </a:rPr>
              <a:t>成像</a:t>
            </a:r>
            <a:r>
              <a:rPr lang="zh-CN" altLang="en-US" sz="4400" spc="300" dirty="0">
                <a:latin typeface="+mn-ea"/>
                <a:cs typeface="+mn-ea"/>
                <a:sym typeface="+mn-ea"/>
              </a:rPr>
              <a:t>过程</a:t>
            </a:r>
            <a:endParaRPr lang="zh-CN" altLang="en-US" sz="4400" spc="300" dirty="0">
              <a:latin typeface="+mn-ea"/>
              <a:cs typeface="+mn-ea"/>
              <a:sym typeface="+mn-ea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02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sz="2800">
                <a:solidFill>
                  <a:schemeClr val="accent1"/>
                </a:solidFill>
              </a:rPr>
              <a:t>成像</a:t>
            </a:r>
            <a:r>
              <a:rPr lang="zh-CN" altLang="en-US" sz="2800">
                <a:solidFill>
                  <a:schemeClr val="accent1"/>
                </a:solidFill>
              </a:rPr>
              <a:t>过程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---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数据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采集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X射线的物理特性</a:t>
            </a:r>
            <a:endParaRPr lang="en-US" sz="2200" b="1" i="0" u="none" strike="noStrike">
              <a:solidFill>
                <a:srgbClr val="00BF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t="17924" b="17924"/>
          <a:stretch>
            <a:fillRect/>
          </a:stretch>
        </p:blipFill>
        <p:spPr>
          <a:xfrm>
            <a:off x="1016000" y="2667000"/>
            <a:ext cx="4699000" cy="1651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016000" y="4572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X射线是一种高能电磁波，不同密度的人体组织会对其产生不同程度的吸收和衰减：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00BF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● 高密度组织 (骨骼)：</a:t>
            </a: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吸收大量射线，探测器接收极少信号。</a:t>
            </a:r>
            <a:endParaRPr lang="en-US" sz="1200" b="0" i="0" u="none" strike="noStrike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00BF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● 中等密度组织 (肌肉)：</a:t>
            </a: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吸收部分射线，接收中等强度信号。</a:t>
            </a:r>
            <a:endParaRPr lang="en-US" sz="1200" b="0" i="0" u="none" strike="noStrike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00BF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● 低密度组织 (脂肪/空气)：</a:t>
            </a: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吸收很少射线，探测器接收信号较多。</a:t>
            </a:r>
            <a:endParaRPr lang="en-US" sz="1200" b="0" i="0" u="none" strike="noStrike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477000" y="1905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A5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扫描过程：从发射到数字化</a:t>
            </a:r>
            <a:endParaRPr lang="en-US" sz="2200" b="1" i="0" u="none" strike="noStrike">
              <a:solidFill>
                <a:srgbClr val="00BFA5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 t="26148" b="26148"/>
          <a:stretch>
            <a:fillRect/>
          </a:stretch>
        </p:blipFill>
        <p:spPr>
          <a:xfrm>
            <a:off x="6477000" y="2667000"/>
            <a:ext cx="4699000" cy="1651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11"/>
          <p:cNvSpPr/>
          <p:nvPr/>
        </p:nvSpPr>
        <p:spPr>
          <a:xfrm>
            <a:off x="6477000" y="4572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00BF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01 发射与接收：</a:t>
            </a: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X射线管发出扇形射线束穿透人体，由对面的探测器阵列精确接收剩余射线。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00BF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02 旋转采集：</a:t>
            </a: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射线管与探测器围绕患者进行360°连续旋转，采集全方位的“投影数据”。</a:t>
            </a:r>
            <a:endParaRPr lang="en-US" sz="1200" b="0" i="0" u="none" strike="noStrike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00BF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03 信号转换：</a:t>
            </a: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将接收到的光子信号转换为电信号，最终转化为计算机可处理的数字信号。</a:t>
            </a:r>
            <a:endParaRPr lang="en-US" sz="1200" b="0" i="0" u="none" strike="noStrike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sz="2800">
                <a:solidFill>
                  <a:schemeClr val="accent1"/>
                </a:solidFill>
              </a:rPr>
              <a:t>成像</a:t>
            </a:r>
            <a:r>
              <a:rPr lang="zh-CN" altLang="en-US" sz="2800">
                <a:solidFill>
                  <a:schemeClr val="accent1"/>
                </a:solidFill>
              </a:rPr>
              <a:t>过程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---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图像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重建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sp>
        <p:nvSpPr>
          <p:cNvPr id="11" name="AutoShape 5"/>
          <p:cNvSpPr/>
          <p:nvPr/>
        </p:nvSpPr>
        <p:spPr>
          <a:xfrm>
            <a:off x="762000" y="2159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6"/>
          <p:cNvPicPr>
            <a:picLocks noChangeAspect="1"/>
          </p:cNvPicPr>
          <p:nvPr/>
        </p:nvPicPr>
        <p:blipFill>
          <a:blip r:embed="rId2"/>
          <a:srcRect t="3623" b="3623"/>
          <a:stretch>
            <a:fillRect/>
          </a:stretch>
        </p:blipFill>
        <p:spPr>
          <a:xfrm>
            <a:off x="952500" y="2349500"/>
            <a:ext cx="2921000" cy="1524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7"/>
          <p:cNvSpPr/>
          <p:nvPr/>
        </p:nvSpPr>
        <p:spPr>
          <a:xfrm>
            <a:off x="952500" y="40005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800" b="1" i="0" u="none" strike="noStrike">
                <a:solidFill>
                  <a:srgbClr val="00BF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经典算法：滤波反投影 (FBP)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反投影：</a:t>
            </a: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将投影数据“反向投射”回图像矩阵，初步形成模糊的图像轮廓。</a:t>
            </a:r>
            <a:endParaRPr lang="en-US" sz="12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滤波：</a:t>
            </a: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通过卷积等数学运算，抑制模糊伪影，增强图像边缘细节。</a:t>
            </a:r>
            <a:endParaRPr lang="en-US" sz="12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特点：</a:t>
            </a: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成像速度极快，但对原始数据中的噪声较为敏感。</a:t>
            </a:r>
            <a:endParaRPr lang="en-US" sz="12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8"/>
          <p:cNvSpPr/>
          <p:nvPr/>
        </p:nvSpPr>
        <p:spPr>
          <a:xfrm>
            <a:off x="4445000" y="2159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9"/>
          <p:cNvPicPr>
            <a:picLocks noChangeAspect="1"/>
          </p:cNvPicPr>
          <p:nvPr/>
        </p:nvPicPr>
        <p:blipFill>
          <a:blip r:embed="rId3"/>
          <a:srcRect t="9038" b="9038"/>
          <a:stretch>
            <a:fillRect/>
          </a:stretch>
        </p:blipFill>
        <p:spPr>
          <a:xfrm>
            <a:off x="4635500" y="2349500"/>
            <a:ext cx="2921000" cy="1524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0"/>
          <p:cNvSpPr/>
          <p:nvPr/>
        </p:nvSpPr>
        <p:spPr>
          <a:xfrm>
            <a:off x="4635500" y="40005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800" b="1" i="0" u="none" strike="noStrike">
                <a:solidFill>
                  <a:srgbClr val="00BF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现代算法：迭代重建 (IR)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核心逻辑：</a:t>
            </a: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模拟真实成像过程，采用“猜测-验证-修正”的循环迭代，不断调整参数，使计算结果逼近真实物理模型。</a:t>
            </a:r>
            <a:endParaRPr lang="en-US" sz="12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关键优势：</a:t>
            </a: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在有效抑制噪声的同时，可实现</a:t>
            </a:r>
            <a:r>
              <a:rPr lang="en-US" sz="1200" b="1" i="0" u="none" strike="noStrike">
                <a:solidFill>
                  <a:srgbClr val="00BF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降低 30% - 70% 的辐射剂量</a:t>
            </a: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并维持高质量图像诊断。</a:t>
            </a:r>
            <a:endParaRPr lang="en-US" sz="12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1"/>
          <p:cNvSpPr/>
          <p:nvPr/>
        </p:nvSpPr>
        <p:spPr>
          <a:xfrm>
            <a:off x="8128000" y="2159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2"/>
          <p:cNvSpPr/>
          <p:nvPr/>
        </p:nvSpPr>
        <p:spPr>
          <a:xfrm>
            <a:off x="8318500" y="2349500"/>
            <a:ext cx="2921000" cy="1524000"/>
          </a:xfrm>
          <a:prstGeom prst="roundRect">
            <a:avLst>
              <a:gd name="adj" fmla="val 6666"/>
            </a:avLst>
          </a:prstGeom>
          <a:solidFill>
            <a:srgbClr val="00B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7200" y="2667000"/>
            <a:ext cx="863600" cy="863600"/>
          </a:xfrm>
          <a:prstGeom prst="rect">
            <a:avLst/>
          </a:prstGeom>
        </p:spPr>
      </p:pic>
      <p:sp>
        <p:nvSpPr>
          <p:cNvPr id="20" name="AutoShape 14"/>
          <p:cNvSpPr/>
          <p:nvPr/>
        </p:nvSpPr>
        <p:spPr>
          <a:xfrm>
            <a:off x="8318500" y="40005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800" b="1" i="0" u="none" strike="noStrike">
                <a:solidFill>
                  <a:srgbClr val="00BF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前沿算法：深度学习重建 (DLR)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利用人工智能 (AI) 的强大算力，构建深度神经网络，直接从最原始的探测器数据端到端生成图像。</a:t>
            </a:r>
            <a:endParaRPr lang="en-US" sz="12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在极低剂量扫描场景下，能生成远超传统算法的图像质量，是未来影像技术发展的核心方向。</a:t>
            </a:r>
            <a:endParaRPr lang="en-US" sz="12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4"/>
          <p:cNvSpPr/>
          <p:nvPr/>
        </p:nvSpPr>
        <p:spPr>
          <a:xfrm>
            <a:off x="762000" y="1333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采集到的原始数据只是一系列枯燥的数字，需要通过复杂的计算机算法“翻译”并重建，才能最终呈现为医生可读的可视断层图像。</a:t>
            </a:r>
            <a:endParaRPr lang="en-US" sz="1100"/>
          </a:p>
        </p:txBody>
      </p: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sz="2800">
                <a:solidFill>
                  <a:schemeClr val="accent1"/>
                </a:solidFill>
              </a:rPr>
              <a:t>成像</a:t>
            </a:r>
            <a:r>
              <a:rPr lang="zh-CN" altLang="en-US" sz="2800">
                <a:solidFill>
                  <a:schemeClr val="accent1"/>
                </a:solidFill>
              </a:rPr>
              <a:t>过程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---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图像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形成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CT值</a:t>
            </a:r>
            <a:r>
              <a:rPr lang="zh-CN" altLang="en-US" sz="2200" b="1" i="0" u="none" strike="noStrike">
                <a:solidFill>
                  <a:srgbClr val="00BF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：亨氏单位</a:t>
            </a:r>
            <a:r>
              <a:rPr lang="en-US" sz="2200" b="1" i="0" u="none" strike="noStrike">
                <a:solidFill>
                  <a:srgbClr val="00BF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(Hounsfield Unit, HU)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t="9990" b="9990"/>
          <a:stretch>
            <a:fillRect/>
          </a:stretch>
        </p:blipFill>
        <p:spPr>
          <a:xfrm>
            <a:off x="1016000" y="2540000"/>
            <a:ext cx="4699000" cy="139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016000" y="4064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CT值是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体素衰减系数与水的相对比值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，是为了标准化和量化人体不同组织密度而引入的概念。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5080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00BF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 HU (基准点)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00BF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空气：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-1000 HU (极低密度)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00BF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致密骨：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+1000 ~ +3000 HU (高密度)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77000" y="1905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灰度映射 (Grayscale Mapping)</a:t>
            </a:r>
            <a:endParaRPr lang="en-US" sz="1100"/>
          </a:p>
        </p:txBody>
      </p:sp>
      <p:sp>
        <p:nvSpPr>
          <p:cNvPr id="3" name="AutoShape 11"/>
          <p:cNvSpPr/>
          <p:nvPr/>
        </p:nvSpPr>
        <p:spPr>
          <a:xfrm>
            <a:off x="6477000" y="2667000"/>
            <a:ext cx="4699000" cy="1079500"/>
          </a:xfrm>
          <a:prstGeom prst="roundRect">
            <a:avLst>
              <a:gd name="adj" fmla="val 9411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12"/>
          <p:cNvSpPr/>
          <p:nvPr/>
        </p:nvSpPr>
        <p:spPr>
          <a:xfrm>
            <a:off x="6667500" y="2857500"/>
            <a:ext cx="635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13"/>
          <p:cNvSpPr/>
          <p:nvPr/>
        </p:nvSpPr>
        <p:spPr>
          <a:xfrm>
            <a:off x="7493000" y="2819400"/>
            <a:ext cx="355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高密度组织 (高CT值)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图像显示为</a:t>
            </a:r>
            <a:r>
              <a:rPr lang="en-US" sz="12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白色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，如骨骼、钙化灶等，对X射线吸收率高。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14"/>
          <p:cNvSpPr/>
          <p:nvPr/>
        </p:nvSpPr>
        <p:spPr>
          <a:xfrm>
            <a:off x="6477000" y="3937000"/>
            <a:ext cx="4699000" cy="1079500"/>
          </a:xfrm>
          <a:prstGeom prst="roundRect">
            <a:avLst>
              <a:gd name="adj" fmla="val 9411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15"/>
          <p:cNvSpPr/>
          <p:nvPr/>
        </p:nvSpPr>
        <p:spPr>
          <a:xfrm>
            <a:off x="6667500" y="4127500"/>
            <a:ext cx="635000" cy="698500"/>
          </a:xfrm>
          <a:prstGeom prst="roundRect">
            <a:avLst>
              <a:gd name="adj" fmla="val 0"/>
            </a:avLst>
          </a:prstGeom>
          <a:solidFill>
            <a:srgbClr val="A0A0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16"/>
          <p:cNvSpPr/>
          <p:nvPr/>
        </p:nvSpPr>
        <p:spPr>
          <a:xfrm>
            <a:off x="7493000" y="4089400"/>
            <a:ext cx="355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中等密度组织 (中等CT值)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图像显示为不同层次的</a:t>
            </a:r>
            <a:r>
              <a:rPr lang="en-US" sz="12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灰色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，如肌肉、肝脏、软组织等。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17"/>
          <p:cNvSpPr/>
          <p:nvPr/>
        </p:nvSpPr>
        <p:spPr>
          <a:xfrm>
            <a:off x="6477000" y="5080000"/>
            <a:ext cx="4699000" cy="1079500"/>
          </a:xfrm>
          <a:prstGeom prst="roundRect">
            <a:avLst>
              <a:gd name="adj" fmla="val 9411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18"/>
          <p:cNvSpPr/>
          <p:nvPr/>
        </p:nvSpPr>
        <p:spPr>
          <a:xfrm>
            <a:off x="6667500" y="5270500"/>
            <a:ext cx="635000" cy="698500"/>
          </a:xfrm>
          <a:prstGeom prst="roundRect">
            <a:avLst>
              <a:gd name="adj" fmla="val 0"/>
            </a:avLst>
          </a:prstGeom>
          <a:solidFill>
            <a:srgbClr val="1F232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19"/>
          <p:cNvSpPr/>
          <p:nvPr/>
        </p:nvSpPr>
        <p:spPr>
          <a:xfrm>
            <a:off x="7493000" y="5232400"/>
            <a:ext cx="355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低密度组织 (低CT值)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图像显示为</a:t>
            </a:r>
            <a:r>
              <a:rPr lang="en-US" sz="12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黑色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，如肺内的空气、皮下脂肪、胃肠道气体等。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16330" y="3896360"/>
            <a:ext cx="8433435" cy="726440"/>
          </a:xfrm>
        </p:spPr>
        <p:txBody>
          <a:bodyPr wrap="square">
            <a:normAutofit/>
          </a:bodyPr>
          <a:lstStyle/>
          <a:p>
            <a:r>
              <a:rPr lang="zh-CN" altLang="en-US" sz="4400" spc="300" dirty="0">
                <a:latin typeface="+mn-ea"/>
                <a:cs typeface="+mn-ea"/>
                <a:sym typeface="+mn-ea"/>
              </a:rPr>
              <a:t>定位与观测</a:t>
            </a:r>
            <a:r>
              <a:rPr lang="zh-CN" altLang="en-US" sz="4400" spc="300" dirty="0">
                <a:latin typeface="+mn-ea"/>
                <a:cs typeface="+mn-ea"/>
                <a:sym typeface="+mn-ea"/>
              </a:rPr>
              <a:t>体系</a:t>
            </a:r>
            <a:endParaRPr lang="zh-CN" altLang="en-US" sz="4400" spc="300" dirty="0">
              <a:latin typeface="+mn-ea"/>
              <a:cs typeface="+mn-ea"/>
              <a:sym typeface="+mn-ea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03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sz="2800">
                <a:solidFill>
                  <a:schemeClr val="accent1"/>
                </a:solidFill>
              </a:rPr>
              <a:t>定位与观测</a:t>
            </a:r>
            <a:r>
              <a:rPr lang="zh-CN" altLang="en-US" sz="2800">
                <a:solidFill>
                  <a:schemeClr val="accent1"/>
                </a:solidFill>
              </a:rPr>
              <a:t>体系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---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病人坐标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系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sp>
        <p:nvSpPr>
          <p:cNvPr id="12" name="AutoShape 5"/>
          <p:cNvSpPr/>
          <p:nvPr/>
        </p:nvSpPr>
        <p:spPr>
          <a:xfrm>
            <a:off x="4533265" y="1633855"/>
            <a:ext cx="6858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7265" y="1951355"/>
            <a:ext cx="762000" cy="762000"/>
          </a:xfrm>
          <a:prstGeom prst="rect">
            <a:avLst/>
          </a:prstGeom>
        </p:spPr>
      </p:pic>
      <p:sp>
        <p:nvSpPr>
          <p:cNvPr id="14" name="AutoShape 7"/>
          <p:cNvSpPr/>
          <p:nvPr/>
        </p:nvSpPr>
        <p:spPr>
          <a:xfrm>
            <a:off x="5803265" y="1824355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矢状面 (Sagittal Plane)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将身体分为左右两部分的垂直平面。正中矢状面将身体分为左右对称的两部分，是描述身体左右位置关系的基准。</a:t>
            </a:r>
            <a:endParaRPr lang="en-US" sz="13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5" name="AutoShape 8"/>
          <p:cNvSpPr/>
          <p:nvPr/>
        </p:nvSpPr>
        <p:spPr>
          <a:xfrm>
            <a:off x="4533265" y="3284855"/>
            <a:ext cx="6858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87265" y="3602355"/>
            <a:ext cx="762000" cy="762000"/>
          </a:xfrm>
          <a:prstGeom prst="rect">
            <a:avLst/>
          </a:prstGeom>
        </p:spPr>
      </p:pic>
      <p:sp>
        <p:nvSpPr>
          <p:cNvPr id="17" name="AutoShape 10"/>
          <p:cNvSpPr/>
          <p:nvPr/>
        </p:nvSpPr>
        <p:spPr>
          <a:xfrm>
            <a:off x="5803265" y="3475355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冠状面 (Coronal Plane)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将身体分为前后两部分的垂直平面，与矢状面相互垂直。常用于描述身体前后或腹背侧的结构关系。</a:t>
            </a:r>
            <a:endParaRPr lang="en-US" sz="13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8" name="AutoShape 11"/>
          <p:cNvSpPr/>
          <p:nvPr/>
        </p:nvSpPr>
        <p:spPr>
          <a:xfrm>
            <a:off x="4533265" y="4935855"/>
            <a:ext cx="6858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87265" y="5253355"/>
            <a:ext cx="762000" cy="762000"/>
          </a:xfrm>
          <a:prstGeom prst="rect">
            <a:avLst/>
          </a:prstGeom>
        </p:spPr>
      </p:pic>
      <p:sp>
        <p:nvSpPr>
          <p:cNvPr id="20" name="AutoShape 13"/>
          <p:cNvSpPr/>
          <p:nvPr/>
        </p:nvSpPr>
        <p:spPr>
          <a:xfrm>
            <a:off x="5803265" y="5126355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横断面 (Transverse Plane)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将身体分为上下两部分的水平平面。在CT、MRI等影像学检查中，横断面也常被称为</a:t>
            </a:r>
            <a:r>
              <a:rPr lang="en-US" sz="1300" b="1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轴位 (Axial Plane)</a:t>
            </a: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762000" y="1677670"/>
            <a:ext cx="3340100" cy="4655185"/>
            <a:chOff x="1200" y="2342"/>
            <a:chExt cx="5260" cy="7331"/>
          </a:xfrm>
        </p:grpSpPr>
        <p:pic>
          <p:nvPicPr>
            <p:cNvPr id="11" name="Picture 4"/>
            <p:cNvPicPr>
              <a:picLocks noChangeAspect="1"/>
            </p:cNvPicPr>
            <p:nvPr/>
          </p:nvPicPr>
          <p:blipFill>
            <a:blip r:embed="rId8"/>
            <a:srcRect t="6326" b="6326"/>
            <a:stretch>
              <a:fillRect/>
            </a:stretch>
          </p:blipFill>
          <p:spPr>
            <a:xfrm>
              <a:off x="1200" y="2873"/>
              <a:ext cx="5200" cy="6800"/>
            </a:xfrm>
            <a:prstGeom prst="roundRect">
              <a:avLst>
                <a:gd name="adj" fmla="val 6153"/>
              </a:avLst>
            </a:prstGeom>
            <a:noFill/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</p:pic>
        <p:sp>
          <p:nvSpPr>
            <p:cNvPr id="21" name="文本框 20"/>
            <p:cNvSpPr txBox="1"/>
            <p:nvPr/>
          </p:nvSpPr>
          <p:spPr>
            <a:xfrm>
              <a:off x="1200" y="2342"/>
              <a:ext cx="5260" cy="53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285750" indent="-285750">
                <a:buFont typeface="Wingdings" panose="05000000000000000000" charset="0"/>
                <a:buChar char="Ø"/>
              </a:pPr>
              <a:r>
                <a:rPr lang="zh-CN" altLang="en-US" sz="1600" b="1"/>
                <a:t>三轴切面定</a:t>
              </a:r>
              <a:r>
                <a:rPr lang="zh-CN" altLang="en-US" sz="1600" b="1"/>
                <a:t>空间位置</a:t>
              </a:r>
              <a:endParaRPr lang="zh-CN" altLang="en-US" sz="1600" b="1"/>
            </a:p>
          </p:txBody>
        </p:sp>
      </p:grpSp>
    </p:spTree>
    <p:custDataLst>
      <p:tags r:id="rId9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sz="2800">
                <a:solidFill>
                  <a:schemeClr val="accent1"/>
                </a:solidFill>
              </a:rPr>
              <a:t>定位与观测体系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---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窗位与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窗宽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70103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Ø"/>
              <a:defRPr/>
            </a:pPr>
            <a:r>
              <a:rPr lang="zh-CN" altLang="en-US" sz="1400" b="1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窗宽窗位定组织显影清晰度</a:t>
            </a:r>
            <a:endParaRPr lang="zh-CN" altLang="en-US" sz="1400" b="1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由于人眼只能分辨约200个灰度等级，而CT值范围有4000多个，因此需要通过调整窗宽和窗位，“过滤”掉无关信息，聚焦观察特定组织。</a:t>
            </a:r>
            <a:endParaRPr lang="en-US" sz="14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26035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857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8194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0BF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窗位 (WL)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又称“窗中心”，代表图像中想要观察的特定组织或病变的平均CT值，决定图像的亮度。</a:t>
            </a:r>
            <a:endParaRPr lang="en-US" sz="1200" b="0" i="0" u="none" strike="noStrike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619500" y="2667000"/>
            <a:ext cx="26035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00" y="2857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254500" y="28194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0BF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窗宽 (WW)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指图像上显示的CT值范围，决定图像的对比度。范围越窄，对比度越高，细节越丰富。</a:t>
            </a:r>
            <a:endParaRPr lang="en-US" sz="1200" b="0" i="0" u="none" strike="noStrike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" name="AutoShape 11"/>
          <p:cNvSpPr/>
          <p:nvPr/>
        </p:nvSpPr>
        <p:spPr>
          <a:xfrm>
            <a:off x="762000" y="4572000"/>
            <a:ext cx="2603500" cy="1778000"/>
          </a:xfrm>
          <a:prstGeom prst="roundRect">
            <a:avLst>
              <a:gd name="adj" fmla="val 8571"/>
            </a:avLst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AutoShape 12"/>
          <p:cNvSpPr/>
          <p:nvPr/>
        </p:nvSpPr>
        <p:spPr>
          <a:xfrm>
            <a:off x="952500" y="4762500"/>
            <a:ext cx="222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🔍 肺部观察 (肺窗)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窗位设为</a:t>
            </a:r>
            <a:r>
              <a:rPr lang="en-US" sz="1200" b="1" i="0" u="none" strike="noStrike">
                <a:solidFill>
                  <a:srgbClr val="D92D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-600 HU</a:t>
            </a: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，窗宽设为</a:t>
            </a:r>
            <a:r>
              <a:rPr lang="en-US" sz="1200" b="1" i="0" u="none" strike="noStrike">
                <a:solidFill>
                  <a:srgbClr val="D92D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1500 HU</a:t>
            </a: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，可清晰显示肺实质、肺纹理及含气病变。</a:t>
            </a:r>
            <a:endParaRPr lang="en-US" sz="12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2" name="AutoShape 13"/>
          <p:cNvSpPr/>
          <p:nvPr/>
        </p:nvSpPr>
        <p:spPr>
          <a:xfrm>
            <a:off x="3619500" y="4572000"/>
            <a:ext cx="2603500" cy="1778000"/>
          </a:xfrm>
          <a:prstGeom prst="roundRect">
            <a:avLst>
              <a:gd name="adj" fmla="val 8571"/>
            </a:avLst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AutoShape 14"/>
          <p:cNvSpPr/>
          <p:nvPr/>
        </p:nvSpPr>
        <p:spPr>
          <a:xfrm>
            <a:off x="3810000" y="4762500"/>
            <a:ext cx="222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🦴 骨骼观察 (骨窗)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窗位设为</a:t>
            </a:r>
            <a:r>
              <a:rPr lang="en-US" sz="1200" b="1" i="0" u="none" strike="noStrike">
                <a:solidFill>
                  <a:srgbClr val="D92D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+400 HU</a:t>
            </a: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，窗宽设为</a:t>
            </a:r>
            <a:r>
              <a:rPr lang="en-US" sz="1200" b="1" i="0" u="none" strike="noStrike">
                <a:solidFill>
                  <a:srgbClr val="D92D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2000 HU</a:t>
            </a: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，以突出骨骼结构、区分骨皮质与骨髓腔。</a:t>
            </a:r>
            <a:endParaRPr lang="en-US" sz="12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24" name="Picture 15"/>
          <p:cNvPicPr>
            <a:picLocks noChangeAspect="1"/>
          </p:cNvPicPr>
          <p:nvPr/>
        </p:nvPicPr>
        <p:blipFill>
          <a:blip r:embed="rId6"/>
          <a:srcRect t="26920" b="26920"/>
          <a:stretch>
            <a:fillRect/>
          </a:stretch>
        </p:blipFill>
        <p:spPr>
          <a:xfrm>
            <a:off x="6731000" y="1905000"/>
            <a:ext cx="4699000" cy="3302000"/>
          </a:xfrm>
          <a:prstGeom prst="rect">
            <a:avLst/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25" name="AutoShape 16"/>
          <p:cNvSpPr/>
          <p:nvPr/>
        </p:nvSpPr>
        <p:spPr>
          <a:xfrm>
            <a:off x="6731000" y="5461000"/>
            <a:ext cx="4699000" cy="1016000"/>
          </a:xfrm>
          <a:prstGeom prst="roundRect">
            <a:avLst>
              <a:gd name="adj" fmla="val 12500"/>
            </a:avLst>
          </a:prstGeom>
          <a:solidFill>
            <a:srgbClr val="00BFA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17"/>
          <p:cNvSpPr/>
          <p:nvPr/>
        </p:nvSpPr>
        <p:spPr>
          <a:xfrm>
            <a:off x="6921500" y="5651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0" i="1" u="none" strike="noStrike">
                <a:solidFill>
                  <a:srgbClr val="0069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灵活调整窗宽窗位，医生就能像使用放大镜一样，</a:t>
            </a:r>
            <a:br>
              <a:rPr lang="en-US" sz="1300" b="0" i="1" u="none" strike="noStrike">
                <a:solidFill>
                  <a:srgbClr val="0069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1" u="none" strike="noStrike">
                <a:solidFill>
                  <a:srgbClr val="0069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在海量数据中快速聚焦，发现细微病变。”</a:t>
            </a:r>
            <a:endParaRPr lang="en-US" sz="1100"/>
          </a:p>
        </p:txBody>
      </p:sp>
    </p:spTree>
    <p:custDataLst>
      <p:tags r:id="rId7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16330" y="3896360"/>
            <a:ext cx="8433435" cy="726440"/>
          </a:xfrm>
        </p:spPr>
        <p:txBody>
          <a:bodyPr wrap="square">
            <a:normAutofit/>
          </a:bodyPr>
          <a:lstStyle/>
          <a:p>
            <a:r>
              <a:rPr lang="zh-CN" altLang="en-US" sz="4400" spc="300" dirty="0">
                <a:latin typeface="+mn-ea"/>
                <a:cs typeface="+mn-ea"/>
                <a:sym typeface="+mn-ea"/>
              </a:rPr>
              <a:t>原始</a:t>
            </a:r>
            <a:r>
              <a:rPr lang="en-US" altLang="zh-CN" sz="4400" spc="300" dirty="0">
                <a:latin typeface="+mn-ea"/>
                <a:cs typeface="+mn-ea"/>
                <a:sym typeface="+mn-ea"/>
              </a:rPr>
              <a:t>CT</a:t>
            </a:r>
            <a:r>
              <a:rPr lang="zh-CN" altLang="en-US" sz="4400" spc="300" dirty="0">
                <a:latin typeface="+mn-ea"/>
                <a:cs typeface="+mn-ea"/>
                <a:sym typeface="+mn-ea"/>
              </a:rPr>
              <a:t>扫描文件</a:t>
            </a:r>
            <a:endParaRPr lang="zh-CN" altLang="en-US" sz="4400" spc="300" dirty="0">
              <a:latin typeface="+mn-ea"/>
              <a:cs typeface="+mn-ea"/>
              <a:sym typeface="+mn-ea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04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sz="2800" spc="300" dirty="0">
                <a:latin typeface="+mn-ea"/>
                <a:cs typeface="+mn-ea"/>
                <a:sym typeface="+mn-ea"/>
              </a:rPr>
              <a:t>原始</a:t>
            </a:r>
            <a:r>
              <a:rPr lang="en-US" altLang="zh-CN" sz="2800" spc="300" dirty="0">
                <a:latin typeface="+mn-ea"/>
                <a:cs typeface="+mn-ea"/>
                <a:sym typeface="+mn-ea"/>
              </a:rPr>
              <a:t>CT</a:t>
            </a:r>
            <a:r>
              <a:rPr lang="zh-CN" altLang="en-US" sz="2800" spc="300" dirty="0">
                <a:latin typeface="+mn-ea"/>
                <a:cs typeface="+mn-ea"/>
                <a:sym typeface="+mn-ea"/>
              </a:rPr>
              <a:t>扫描文件</a:t>
            </a:r>
            <a:endParaRPr lang="zh-CN" altLang="en-US" sz="2000" spc="3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正文" descr="7b0a202020202262756c6c6574223a20227b5c2263617465676f727949645c223a5c225c222c5c2274656d706c61746549645c223a32303233313538357d220a7d0a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75945" y="1604645"/>
            <a:ext cx="10680065" cy="820420"/>
          </a:xfrm>
        </p:spPr>
        <p:txBody>
          <a:bodyPr>
            <a:normAutofit lnSpcReduction="10000"/>
          </a:bodyPr>
          <a:lstStyle/>
          <a:p>
            <a:pPr>
              <a:buBlip>
                <a:blip r:embed="rId3"/>
              </a:buBlip>
            </a:pP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原始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</a:rPr>
              <a:t>CT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扫描文件是计算机断层扫描（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</a:rPr>
              <a:t>Computed Tomography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，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</a:rPr>
              <a:t>CT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）设备直接生成的未经处理的图像数据，通常以特定的医学数字成像格式存储。在医学影像领域，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</a:rPr>
              <a:t>CT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扫描数据的存储格式多样，根据应用场景（临床、科研、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</a:rPr>
              <a:t>AI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开发等）不同而有所侧重。常用的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</a:rPr>
              <a:t>CT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扫描文件格式包括：</a:t>
            </a:r>
            <a:endParaRPr lang="zh-CN" alt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737870" y="2433320"/>
            <a:ext cx="10619740" cy="3706908"/>
            <a:chOff x="2356" y="4540"/>
            <a:chExt cx="14489" cy="5425"/>
          </a:xfrm>
        </p:grpSpPr>
        <p:sp>
          <p:nvSpPr>
            <p:cNvPr id="6" name="矩形 5"/>
            <p:cNvSpPr/>
            <p:nvPr>
              <p:custDataLst>
                <p:tags r:id="rId4"/>
              </p:custDataLst>
            </p:nvPr>
          </p:nvSpPr>
          <p:spPr>
            <a:xfrm>
              <a:off x="2356" y="4540"/>
              <a:ext cx="3913" cy="766"/>
            </a:xfrm>
            <a:prstGeom prst="rect">
              <a:avLst/>
            </a:prstGeom>
            <a:noFill/>
          </p:spPr>
          <p:txBody>
            <a:bodyPr wrap="none" lIns="0" tIns="0" rIns="0" bIns="0" rtlCol="0" anchor="b" anchorCtr="0">
              <a:normAutofit/>
            </a:bodyPr>
            <a:p>
              <a:pPr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85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+mn-ea"/>
                  <a:cs typeface="+mn-ea"/>
                </a:rPr>
                <a:t>01</a:t>
              </a:r>
              <a:endParaRPr lang="en-US" altLang="zh-CN" sz="2285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ea"/>
                <a:cs typeface="+mn-ea"/>
              </a:endParaRPr>
            </a:p>
          </p:txBody>
        </p:sp>
        <p:sp>
          <p:nvSpPr>
            <p:cNvPr id="8" name="矩形 7"/>
            <p:cNvSpPr/>
            <p:nvPr>
              <p:custDataLst>
                <p:tags r:id="rId5"/>
              </p:custDataLst>
            </p:nvPr>
          </p:nvSpPr>
          <p:spPr>
            <a:xfrm>
              <a:off x="2356" y="5463"/>
              <a:ext cx="3914" cy="93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algn="just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DICOM</a:t>
              </a:r>
              <a:endParaRPr lang="en-US" altLang="zh-CN" sz="1400" b="1" dirty="0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  <a:p>
              <a:pPr algn="just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Digital Imaging and Communications in Medicine</a:t>
              </a:r>
              <a:endParaRPr lang="en-US" altLang="zh-CN" sz="800" b="1" dirty="0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6"/>
              </p:custDataLst>
            </p:nvPr>
          </p:nvSpPr>
          <p:spPr>
            <a:xfrm>
              <a:off x="7476" y="4540"/>
              <a:ext cx="3913" cy="766"/>
            </a:xfrm>
            <a:prstGeom prst="rect">
              <a:avLst/>
            </a:prstGeom>
            <a:noFill/>
          </p:spPr>
          <p:txBody>
            <a:bodyPr wrap="none" lIns="0" tIns="0" rIns="0" bIns="0" rtlCol="0" anchor="b" anchorCtr="0">
              <a:normAutofit/>
            </a:bodyPr>
            <a:p>
              <a:pPr lvl="0" algn="l">
                <a:buClrTx/>
                <a:buSzTx/>
                <a:buFontTx/>
              </a:pPr>
              <a:r>
                <a:rPr lang="en-US" altLang="zh-CN" sz="2285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+mn-ea"/>
                  <a:cs typeface="+mn-ea"/>
                  <a:sym typeface="+mn-ea"/>
                </a:rPr>
                <a:t>02</a:t>
              </a:r>
              <a:endParaRPr lang="en-US" altLang="zh-CN" sz="2285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7"/>
              </p:custDataLst>
            </p:nvPr>
          </p:nvSpPr>
          <p:spPr>
            <a:xfrm>
              <a:off x="7476" y="5463"/>
              <a:ext cx="3914" cy="93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lvl="0" algn="just">
                <a:buClrTx/>
                <a:buSzTx/>
                <a:buFontTx/>
              </a:pPr>
              <a:r>
                <a:rPr lang="en-US" altLang="zh-CN" sz="1400" b="1">
                  <a:solidFill>
                    <a:schemeClr val="accent2"/>
                  </a:solidFill>
                  <a:latin typeface="+mn-ea"/>
                  <a:cs typeface="+mn-ea"/>
                  <a:sym typeface="+mn-ea"/>
                </a:rPr>
                <a:t>NIfTI</a:t>
              </a:r>
              <a:endParaRPr lang="en-US" altLang="zh-CN" sz="1400" b="1">
                <a:solidFill>
                  <a:schemeClr val="accent2"/>
                </a:solidFill>
                <a:latin typeface="+mn-ea"/>
                <a:cs typeface="+mn-ea"/>
                <a:sym typeface="+mn-ea"/>
              </a:endParaRPr>
            </a:p>
            <a:p>
              <a:pPr lvl="0" algn="just">
                <a:buClrTx/>
                <a:buSzTx/>
                <a:buFontTx/>
              </a:pPr>
              <a:r>
                <a:rPr lang="en-US" altLang="zh-CN" sz="800" b="1">
                  <a:solidFill>
                    <a:schemeClr val="accent2"/>
                  </a:solidFill>
                  <a:latin typeface="+mn-ea"/>
                  <a:cs typeface="+mn-ea"/>
                  <a:sym typeface="+mn-ea"/>
                </a:rPr>
                <a:t>Neuroimaging Informatics Technology Initiative</a:t>
              </a:r>
              <a:endParaRPr lang="en-US" altLang="zh-CN" sz="800" b="1">
                <a:solidFill>
                  <a:schemeClr val="accent2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13" name="矩形 12"/>
            <p:cNvSpPr/>
            <p:nvPr>
              <p:custDataLst>
                <p:tags r:id="rId8"/>
              </p:custDataLst>
            </p:nvPr>
          </p:nvSpPr>
          <p:spPr>
            <a:xfrm>
              <a:off x="7476" y="6277"/>
              <a:ext cx="3913" cy="3688"/>
            </a:xfrm>
            <a:prstGeom prst="rect">
              <a:avLst/>
            </a:prstGeom>
            <a:ln>
              <a:noFill/>
              <a:prstDash val="sysDash"/>
            </a:ln>
          </p:spPr>
          <p:txBody>
            <a:bodyPr vert="horz" wrap="square" lIns="0" tIns="0" rIns="0" bIns="0" rtlCol="0">
              <a:noAutofit/>
            </a:bodyPr>
            <a:p>
              <a:pPr marL="171450" indent="-171450" algn="just" fontAlgn="auto">
                <a:lnSpc>
                  <a:spcPct val="150000"/>
                </a:lnSpc>
                <a:spcBef>
                  <a:spcPct val="0"/>
                </a:spcBef>
                <a:spcAft>
                  <a:spcPts val="600"/>
                </a:spcAft>
                <a:buFont typeface="Wingdings" panose="05000000000000000000" charset="0"/>
                <a:buChar char="ü"/>
              </a:pP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概要：</a:t>
              </a:r>
              <a:endParaRPr lang="zh-CN" altLang="en-US" sz="1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endParaRPr>
            </a:p>
            <a:p>
              <a:pPr indent="179705" algn="just" fontAlgn="auto">
                <a:lnSpc>
                  <a:spcPct val="150000"/>
                </a:lnSpc>
                <a:spcBef>
                  <a:spcPct val="0"/>
                </a:spcBef>
                <a:spcAft>
                  <a:spcPts val="600"/>
                </a:spcAft>
                <a:buNone/>
              </a:pP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NIfTI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是神经影像领域广泛使用的开放数据格式，尤其适用于存储和处理三维医学影像数据（如</a:t>
              </a: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CT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、</a:t>
              </a: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MRI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）。</a:t>
              </a: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 </a:t>
              </a:r>
              <a:endParaRPr lang="zh-CN" altLang="en-US" sz="1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endParaRPr>
            </a:p>
            <a:p>
              <a:pPr marL="171450" indent="-171450" algn="just" fontAlgn="auto">
                <a:lnSpc>
                  <a:spcPct val="150000"/>
                </a:lnSpc>
                <a:spcBef>
                  <a:spcPct val="0"/>
                </a:spcBef>
                <a:spcAft>
                  <a:spcPts val="600"/>
                </a:spcAft>
                <a:buFont typeface="Wingdings" panose="05000000000000000000" charset="0"/>
                <a:buChar char="ü"/>
              </a:pP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核心特点：</a:t>
              </a:r>
              <a:endParaRPr lang="zh-CN" altLang="en-US" sz="1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endParaRPr>
            </a:p>
            <a:p>
              <a:pPr indent="0" algn="just" fontAlgn="auto">
                <a:lnSpc>
                  <a:spcPct val="150000"/>
                </a:lnSpc>
                <a:spcBef>
                  <a:spcPct val="0"/>
                </a:spcBef>
                <a:spcAft>
                  <a:spcPts val="600"/>
                </a:spcAft>
                <a:buFont typeface="Wingdings" panose="05000000000000000000" charset="0"/>
                <a:buNone/>
              </a:pP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支持三维</a:t>
              </a: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/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思维数据、标准化坐标系、轻量化元数据和高可扩展性</a:t>
              </a:r>
              <a:endParaRPr lang="zh-CN" altLang="en-US" sz="1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endParaRPr>
            </a:p>
            <a:p>
              <a:pPr marL="171450" indent="-171450" algn="just" fontAlgn="auto">
                <a:lnSpc>
                  <a:spcPct val="150000"/>
                </a:lnSpc>
                <a:spcBef>
                  <a:spcPct val="0"/>
                </a:spcBef>
                <a:spcAft>
                  <a:spcPts val="600"/>
                </a:spcAft>
                <a:buFont typeface="Wingdings" panose="05000000000000000000" charset="0"/>
                <a:buChar char="ü"/>
              </a:pP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文件结构：</a:t>
              </a:r>
              <a:endParaRPr lang="zh-CN" altLang="en-US" sz="1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endParaRPr>
            </a:p>
            <a:p>
              <a:pPr indent="179705" algn="just" fontAlgn="auto">
                <a:lnSpc>
                  <a:spcPct val="150000"/>
                </a:lnSpc>
                <a:spcBef>
                  <a:spcPct val="0"/>
                </a:spcBef>
                <a:spcAft>
                  <a:spcPts val="600"/>
                </a:spcAft>
                <a:buNone/>
              </a:pP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文件头</a:t>
              </a: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+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图像数据</a:t>
              </a:r>
              <a:endParaRPr lang="zh-CN" altLang="en-US" sz="1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9"/>
              </p:custDataLst>
            </p:nvPr>
          </p:nvSpPr>
          <p:spPr>
            <a:xfrm>
              <a:off x="12177" y="4540"/>
              <a:ext cx="3913" cy="766"/>
            </a:xfrm>
            <a:prstGeom prst="rect">
              <a:avLst/>
            </a:prstGeom>
            <a:noFill/>
          </p:spPr>
          <p:txBody>
            <a:bodyPr wrap="none" lIns="0" tIns="0" rIns="0" bIns="0" rtlCol="0" anchor="b" anchorCtr="0">
              <a:normAutofit/>
            </a:bodyPr>
            <a:p>
              <a:pPr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85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+mn-ea"/>
                  <a:cs typeface="+mn-ea"/>
                </a:rPr>
                <a:t>03</a:t>
              </a:r>
              <a:endParaRPr lang="en-US" altLang="zh-CN" sz="2285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ea"/>
                <a:cs typeface="+mn-ea"/>
              </a:endParaRPr>
            </a:p>
          </p:txBody>
        </p:sp>
        <p:cxnSp>
          <p:nvCxnSpPr>
            <p:cNvPr id="21" name="直接连接符 20"/>
            <p:cNvCxnSpPr/>
            <p:nvPr>
              <p:custDataLst>
                <p:tags r:id="rId10"/>
              </p:custDataLst>
            </p:nvPr>
          </p:nvCxnSpPr>
          <p:spPr>
            <a:xfrm>
              <a:off x="2356" y="5437"/>
              <a:ext cx="3899" cy="0"/>
            </a:xfrm>
            <a:prstGeom prst="line">
              <a:avLst/>
            </a:prstGeom>
            <a:ln w="12700">
              <a:solidFill>
                <a:schemeClr val="accent1">
                  <a:alpha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>
              <p:custDataLst>
                <p:tags r:id="rId11"/>
              </p:custDataLst>
            </p:nvPr>
          </p:nvCxnSpPr>
          <p:spPr>
            <a:xfrm>
              <a:off x="7476" y="5437"/>
              <a:ext cx="3899" cy="0"/>
            </a:xfrm>
            <a:prstGeom prst="line">
              <a:avLst/>
            </a:prstGeom>
            <a:ln w="12700">
              <a:solidFill>
                <a:schemeClr val="accent2">
                  <a:alpha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>
              <p:custDataLst>
                <p:tags r:id="rId12"/>
              </p:custDataLst>
            </p:nvPr>
          </p:nvCxnSpPr>
          <p:spPr>
            <a:xfrm>
              <a:off x="12177" y="5437"/>
              <a:ext cx="3899" cy="0"/>
            </a:xfrm>
            <a:prstGeom prst="line">
              <a:avLst/>
            </a:prstGeom>
            <a:ln w="12700">
              <a:solidFill>
                <a:schemeClr val="accent1">
                  <a:alpha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5" name="矩形 24"/>
            <p:cNvSpPr/>
            <p:nvPr>
              <p:custDataLst>
                <p:tags r:id="rId13"/>
              </p:custDataLst>
            </p:nvPr>
          </p:nvSpPr>
          <p:spPr>
            <a:xfrm>
              <a:off x="12177" y="5569"/>
              <a:ext cx="3914" cy="82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algn="just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b="1" dirty="0">
                  <a:solidFill>
                    <a:schemeClr val="accent1"/>
                  </a:solidFill>
                  <a:latin typeface="+mn-ea"/>
                  <a:cs typeface="+mn-ea"/>
                </a:rPr>
                <a:t>MetalImage</a:t>
              </a:r>
              <a:endParaRPr lang="en-US" altLang="zh-CN" sz="1400" b="1" dirty="0">
                <a:solidFill>
                  <a:schemeClr val="accent1"/>
                </a:solidFill>
                <a:latin typeface="+mn-ea"/>
                <a:cs typeface="+mn-ea"/>
              </a:endParaRPr>
            </a:p>
            <a:p>
              <a:pPr algn="just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800" b="1" dirty="0">
                  <a:solidFill>
                    <a:schemeClr val="accent1"/>
                  </a:solidFill>
                  <a:latin typeface="+mn-ea"/>
                  <a:cs typeface="+mn-ea"/>
                </a:rPr>
                <a:t>.mhd + .raw</a:t>
              </a:r>
              <a:endParaRPr lang="en-US" altLang="zh-CN" sz="800" b="1" dirty="0">
                <a:solidFill>
                  <a:schemeClr val="accent1"/>
                </a:solidFill>
                <a:latin typeface="+mn-ea"/>
                <a:cs typeface="+mn-ea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14"/>
              </p:custDataLst>
            </p:nvPr>
          </p:nvSpPr>
          <p:spPr>
            <a:xfrm>
              <a:off x="12177" y="6277"/>
              <a:ext cx="4668" cy="3687"/>
            </a:xfrm>
            <a:prstGeom prst="rect">
              <a:avLst/>
            </a:prstGeom>
            <a:ln>
              <a:noFill/>
              <a:prstDash val="sysDash"/>
            </a:ln>
          </p:spPr>
          <p:txBody>
            <a:bodyPr vert="horz" wrap="square" lIns="0" tIns="0" rIns="0" bIns="0" rtlCol="0">
              <a:noAutofit/>
            </a:bodyPr>
            <a:p>
              <a:pPr marL="171450" indent="-171450" algn="just" fontAlgn="auto">
                <a:lnSpc>
                  <a:spcPct val="150000"/>
                </a:lnSpc>
                <a:spcBef>
                  <a:spcPct val="0"/>
                </a:spcBef>
                <a:spcAft>
                  <a:spcPts val="600"/>
                </a:spcAft>
                <a:buFont typeface="Wingdings" panose="05000000000000000000" charset="0"/>
                <a:buChar char="ü"/>
              </a:pP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概要：</a:t>
              </a:r>
              <a:endParaRPr lang="zh-CN" altLang="en-US" sz="1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endParaRPr>
            </a:p>
            <a:p>
              <a:pPr indent="179705" algn="just" fontAlgn="auto">
                <a:lnSpc>
                  <a:spcPct val="150000"/>
                </a:lnSpc>
                <a:spcBef>
                  <a:spcPct val="0"/>
                </a:spcBef>
                <a:spcAft>
                  <a:spcPts val="600"/>
                </a:spcAft>
                <a:buNone/>
              </a:pP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MetaImage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（简称</a:t>
              </a: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MHD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格式）是一种轻量级、开源的医学影像存储格式，广泛用于科研和算法开发。它通过</a:t>
              </a: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​​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文本头文件（</a:t>
              </a: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.mhd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）</a:t>
              </a: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​​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和</a:t>
              </a: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​​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二进制数据文件（</a:t>
              </a: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.raw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）</a:t>
              </a: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​​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分离存储元数据和像素值，特别适合处理</a:t>
              </a: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CT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扫描的三维体数据。</a:t>
              </a:r>
              <a:endParaRPr lang="zh-CN" altLang="en-US" sz="1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endParaRPr>
            </a:p>
            <a:p>
              <a:pPr marL="171450" indent="-171450" algn="just" fontAlgn="auto">
                <a:lnSpc>
                  <a:spcPct val="150000"/>
                </a:lnSpc>
                <a:spcBef>
                  <a:spcPct val="0"/>
                </a:spcBef>
                <a:spcAft>
                  <a:spcPts val="600"/>
                </a:spcAft>
                <a:buFont typeface="Wingdings" panose="05000000000000000000" charset="0"/>
                <a:buChar char="ü"/>
              </a:pP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核心特点</a:t>
              </a:r>
              <a:endParaRPr lang="zh-CN" altLang="en-US" sz="1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endParaRPr>
            </a:p>
            <a:p>
              <a:pPr indent="179705" algn="just" fontAlgn="auto">
                <a:lnSpc>
                  <a:spcPct val="150000"/>
                </a:lnSpc>
                <a:spcBef>
                  <a:spcPct val="0"/>
                </a:spcBef>
                <a:spcAft>
                  <a:spcPts val="600"/>
                </a:spcAft>
                <a:buNone/>
              </a:pP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支持三维</a:t>
              </a: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/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四维数据、元数据仅包含几何信息、隐式坐标系。</a:t>
              </a:r>
              <a:endParaRPr lang="zh-CN" altLang="en-US" sz="1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endParaRPr>
            </a:p>
            <a:p>
              <a:pPr marL="171450" indent="-171450" algn="just" fontAlgn="auto">
                <a:lnSpc>
                  <a:spcPct val="150000"/>
                </a:lnSpc>
                <a:spcBef>
                  <a:spcPct val="0"/>
                </a:spcBef>
                <a:spcAft>
                  <a:spcPts val="600"/>
                </a:spcAft>
                <a:buFont typeface="Wingdings" panose="05000000000000000000" charset="0"/>
                <a:buChar char="ü"/>
              </a:pP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文件结构</a:t>
              </a:r>
              <a:endParaRPr lang="zh-CN" altLang="en-US" sz="1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endParaRPr>
            </a:p>
            <a:p>
              <a:pPr indent="179705" algn="just" fontAlgn="auto">
                <a:lnSpc>
                  <a:spcPct val="150000"/>
                </a:lnSpc>
                <a:spcBef>
                  <a:spcPct val="0"/>
                </a:spcBef>
                <a:spcAft>
                  <a:spcPts val="600"/>
                </a:spcAft>
                <a:buFont typeface="Wingdings" panose="05000000000000000000" charset="0"/>
                <a:buNone/>
              </a:pP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由头文件</a:t>
              </a: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*.mhd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和原始数据文件</a:t>
              </a: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*.raw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ea"/>
                </a:rPr>
                <a:t>组成</a:t>
              </a:r>
              <a:endParaRPr lang="zh-CN" altLang="en-US" sz="1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27" name="矩形 26"/>
            <p:cNvSpPr/>
            <p:nvPr>
              <p:custDataLst>
                <p:tags r:id="rId15"/>
              </p:custDataLst>
            </p:nvPr>
          </p:nvSpPr>
          <p:spPr>
            <a:xfrm>
              <a:off x="2356" y="6277"/>
              <a:ext cx="4730" cy="3688"/>
            </a:xfrm>
            <a:prstGeom prst="rect">
              <a:avLst/>
            </a:prstGeom>
            <a:ln>
              <a:noFill/>
              <a:prstDash val="sysDash"/>
            </a:ln>
          </p:spPr>
          <p:txBody>
            <a:bodyPr vert="horz" wrap="square" lIns="0" tIns="0" rIns="0" bIns="0" rtlCol="0">
              <a:noAutofit/>
            </a:bodyPr>
            <a:p>
              <a:pPr marL="171450" indent="-171450" algn="just" fontAlgn="auto">
                <a:lnSpc>
                  <a:spcPct val="150000"/>
                </a:lnSpc>
                <a:spcBef>
                  <a:spcPct val="0"/>
                </a:spcBef>
                <a:spcAft>
                  <a:spcPts val="600"/>
                </a:spcAft>
                <a:buFont typeface="Wingdings" panose="05000000000000000000" charset="0"/>
                <a:buChar char="ü"/>
              </a:pP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概要：</a:t>
              </a:r>
              <a:endParaRPr lang="zh-CN" altLang="en-US" sz="1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179705" algn="just" fontAlgn="auto">
                <a:lnSpc>
                  <a:spcPct val="150000"/>
                </a:lnSpc>
                <a:spcBef>
                  <a:spcPct val="0"/>
                </a:spcBef>
                <a:spcAft>
                  <a:spcPts val="600"/>
                </a:spcAft>
                <a:buFont typeface="Wingdings" panose="05000000000000000000" charset="0"/>
                <a:buNone/>
              </a:pP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DICOM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是医学影像领域的国际标准，用于存储、传输和处理医学图像及相关信息。</a:t>
              </a:r>
              <a:endParaRPr lang="zh-CN" altLang="en-US" sz="1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171450" indent="-171450" algn="just" fontAlgn="auto">
                <a:lnSpc>
                  <a:spcPct val="150000"/>
                </a:lnSpc>
                <a:spcBef>
                  <a:spcPct val="0"/>
                </a:spcBef>
                <a:spcAft>
                  <a:spcPts val="600"/>
                </a:spcAft>
                <a:buFont typeface="Wingdings" panose="05000000000000000000" charset="0"/>
                <a:buChar char="ü"/>
              </a:pP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核心特点：</a:t>
              </a:r>
              <a:endParaRPr lang="zh-CN" altLang="en-US" sz="1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indent="179705" algn="just" fontAlgn="auto">
                <a:lnSpc>
                  <a:spcPct val="150000"/>
                </a:lnSpc>
                <a:spcBef>
                  <a:spcPct val="0"/>
                </a:spcBef>
                <a:spcAft>
                  <a:spcPts val="600"/>
                </a:spcAft>
                <a:buFont typeface="Wingdings" panose="05000000000000000000" charset="0"/>
                <a:buNone/>
              </a:pP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标准化、多模态支持、元数据丰富、网络通信协议支持</a:t>
              </a:r>
              <a:endParaRPr lang="zh-CN" altLang="en-US" sz="1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71450" indent="-171450" algn="just" fontAlgn="auto">
                <a:lnSpc>
                  <a:spcPct val="150000"/>
                </a:lnSpc>
                <a:spcBef>
                  <a:spcPct val="0"/>
                </a:spcBef>
                <a:spcAft>
                  <a:spcPts val="600"/>
                </a:spcAft>
                <a:buFont typeface="Wingdings" panose="05000000000000000000" charset="0"/>
                <a:buChar char="ü"/>
              </a:pP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文件结构：</a:t>
              </a:r>
              <a:endParaRPr lang="zh-CN" altLang="en-US" sz="1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179705" algn="just" fontAlgn="auto">
                <a:lnSpc>
                  <a:spcPct val="150000"/>
                </a:lnSpc>
                <a:spcBef>
                  <a:spcPct val="0"/>
                </a:spcBef>
                <a:spcAft>
                  <a:spcPts val="600"/>
                </a:spcAft>
                <a:buFont typeface="Wingdings" panose="05000000000000000000" charset="0"/>
                <a:buNone/>
              </a:pP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DICOM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文件（</a:t>
              </a: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*.dcm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）由</a:t>
              </a: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​​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文件头（</a:t>
              </a: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Header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）</a:t>
              </a: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​​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和</a:t>
              </a: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​​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数据集（</a:t>
              </a: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Data Set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）</a:t>
              </a:r>
              <a:r>
                <a:rPr lang="en-US" altLang="zh-CN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​​</a:t>
              </a:r>
              <a:r>
                <a:rPr lang="zh-CN" altLang="en-US" sz="1000" dirty="0">
                  <a:ln>
                    <a:noFill/>
                    <a:prstDash val="sysDot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组成。</a:t>
              </a:r>
              <a:endParaRPr lang="zh-CN" altLang="en-US" sz="1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algn="just" fontAlgn="auto">
                <a:lnSpc>
                  <a:spcPct val="150000"/>
                </a:lnSpc>
                <a:spcBef>
                  <a:spcPct val="0"/>
                </a:spcBef>
                <a:spcAft>
                  <a:spcPts val="600"/>
                </a:spcAft>
                <a:buFont typeface="Wingdings" panose="05000000000000000000" charset="0"/>
                <a:buNone/>
              </a:pPr>
              <a:endParaRPr lang="zh-CN" altLang="en-US" sz="1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  <p:custDataLst>
      <p:tags r:id="rId16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sz="2800" spc="300" dirty="0">
                <a:latin typeface="+mn-ea"/>
                <a:cs typeface="+mn-ea"/>
                <a:sym typeface="+mn-ea"/>
              </a:rPr>
              <a:t>原始</a:t>
            </a:r>
            <a:r>
              <a:rPr lang="en-US" altLang="zh-CN" sz="2800" spc="300" dirty="0">
                <a:latin typeface="+mn-ea"/>
                <a:cs typeface="+mn-ea"/>
                <a:sym typeface="+mn-ea"/>
              </a:rPr>
              <a:t>CT</a:t>
            </a:r>
            <a:r>
              <a:rPr lang="zh-CN" altLang="en-US" sz="2800" spc="300" dirty="0">
                <a:latin typeface="+mn-ea"/>
                <a:cs typeface="+mn-ea"/>
                <a:sym typeface="+mn-ea"/>
              </a:rPr>
              <a:t>扫描文件</a:t>
            </a:r>
            <a:r>
              <a:rPr lang="en-US" altLang="zh-CN" sz="20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rPr>
              <a:t>---mhd</a:t>
            </a:r>
            <a:r>
              <a:rPr lang="zh-CN" altLang="en-US" sz="20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rPr>
              <a:t>格式</a:t>
            </a:r>
            <a:endParaRPr lang="zh-CN" altLang="en-US" sz="2000" spc="3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正文" descr="7b0a202020202262756c6c6574223a20227b5c2263617465676f727949645c223a5c225c222c5c2274656d706c61746549645c223a32303233313538357d220a7d0a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75945" y="1325245"/>
            <a:ext cx="10680065" cy="847090"/>
          </a:xfrm>
        </p:spPr>
        <p:txBody>
          <a:bodyPr>
            <a:normAutofit lnSpcReduction="10000"/>
          </a:bodyPr>
          <a:lstStyle/>
          <a:p>
            <a:pPr>
              <a:buBlip>
                <a:blip r:embed="rId3"/>
              </a:buBlip>
            </a:pP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</a:rPr>
              <a:t>*.mhd+*.raw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是我们的示例项目中使用原始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</a:rPr>
              <a:t>CT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扫描文件格式，其中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</a:rPr>
              <a:t>*.mhd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文件中保存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</a:rPr>
              <a:t>CT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扫描影像的元数据，它以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</a:rPr>
              <a:t>”key=value”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形式来保存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</a:rPr>
              <a:t>CT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扫描影像的尺寸、数据类型、空间信息、关联的原始数据文件等信息，这个文件是纯文本格式的；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</a:rPr>
              <a:t>*.raw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是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</a:rPr>
              <a:t>CT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扫描影像的原始二进制像素信息，它按顺序保存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</a:rPr>
              <a:t>CT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扫描影像的像素值，这个文件没有文件头信息，其中的每个值对应一个体素。</a:t>
            </a:r>
            <a:endParaRPr lang="zh-CN" alt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5945" y="222694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ü"/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*.mhd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文件中的信息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4"/>
            </p:custDataLst>
          </p:nvPr>
        </p:nvGraphicFramePr>
        <p:xfrm>
          <a:off x="550545" y="2588260"/>
          <a:ext cx="10942955" cy="3579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860"/>
                <a:gridCol w="4123055"/>
                <a:gridCol w="755650"/>
                <a:gridCol w="4263390"/>
              </a:tblGrid>
              <a:tr h="2724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键名（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key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含义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是否必须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示例值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ObjectType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固定为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Image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必须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ObjectType=Image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NDims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图像的维度（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或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必须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NDims=3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DimSize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各维度尺寸（</a:t>
                      </a: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宽度、高度、切片数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，用空格分隔）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必须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DimSize = 512 512 100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ElementType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像素数据类型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必须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ElementType = MET_SHORT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ElementDataFile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关联的二进制文件路径（通常为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 .raw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必须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ElementDataFile = data.raw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BinaryData 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控制二进制数据（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.raw 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文件）的存储方式。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可选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BinaryData = False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BinaryDataByteOrderMSB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指定二进制数据（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.raw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）的字节序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可选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BinaryDataByteOrderMSB = True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CompressedData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指定关联的二进制数据（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.raw 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文件）是否经过压缩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可选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CompressedData=False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TransformMatrix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定义图像数据的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​​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空间方向矩阵，即体素坐标到物理坐标的线性变换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可选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TransformMatrix = 1 0 0 0 1 0 0 0 1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Offset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定义图像数据在物理空间中的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​​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原点位置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​​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可选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Offset = -198.10000600000001 -195 -335.209991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CenterOfRotation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定义图像数据在物理空间中的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​​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旋转中心坐标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可选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CenterOfRotation = 0 0 0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AnatomicalOrientation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于描述图像数据的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​​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解剖学方向标识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​​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。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可选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AnatomicalOrientation = RAI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ElementSpacing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用于定义图像中每个体素（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voxel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）在物理空间中的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​​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实际尺寸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可选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ElementSpacing = 0.7617189884185791 0.7617189884185791 2.5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  <p:custDataLst>
      <p:tags r:id="rId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16330" y="3896360"/>
            <a:ext cx="8635365" cy="814705"/>
          </a:xfrm>
        </p:spPr>
        <p:txBody>
          <a:bodyPr wrap="square">
            <a:normAutofit/>
          </a:bodyPr>
          <a:lstStyle/>
          <a:p>
            <a:r>
              <a:rPr lang="zh-CN" altLang="en-US" sz="4400" dirty="0"/>
              <a:t>加载单个</a:t>
            </a:r>
            <a:r>
              <a:rPr lang="en-US" altLang="zh-CN" sz="4400" dirty="0"/>
              <a:t>CT</a:t>
            </a:r>
            <a:r>
              <a:rPr lang="zh-CN" altLang="en-US" sz="4400" dirty="0"/>
              <a:t>扫描文件</a:t>
            </a:r>
            <a:endParaRPr lang="zh-CN" altLang="en-US" sz="4400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05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sz="2800"/>
              <a:t>加载单个</a:t>
            </a:r>
            <a:r>
              <a:rPr lang="en-US" altLang="zh-CN" sz="2800"/>
              <a:t>CT</a:t>
            </a:r>
            <a:r>
              <a:rPr lang="zh-CN" altLang="en-US" sz="2800"/>
              <a:t>扫描文件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</a:rPr>
              <a:t>---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原始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</a:rPr>
              <a:t>CT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扫描文件的数据组织形式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正文" descr="7b0a202020202262756c6c6574223a20227b5c2263617465676f727949645c223a5c225c222c5c2274656d706c61746549645c223a32303233313538357d220a7d0a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35965" y="1605280"/>
            <a:ext cx="10582910" cy="192024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buBlip>
                <a:blip r:embed="rId3"/>
              </a:buBlip>
            </a:pP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扫描文件的原始标准格式为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DICOM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，它的第一个版本是在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1984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年编写的，其文件的扩展名为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.dcm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，在我们的示例项目中，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LUNA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数据集中的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扫描影像是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MetaIO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格式的，其中每个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扫描包含扩展名为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.mhd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（头文件）和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.raw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（数据文件）的两个文件。这两种格式的数据可以互相转换。</a:t>
            </a:r>
            <a:endParaRPr lang="zh-CN" altLang="en-US" sz="14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30505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DICOM---&gt;MetaIO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：使用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ITK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C++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）或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SimpleITK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4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30505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MetaIO---&gt;DICOM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：使用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pydicom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，但需要手动添加元数据。</a:t>
            </a:r>
            <a:endParaRPr lang="zh-CN" altLang="en-US" sz="14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正文" descr="7b0a202020202262756c6c6574223a20227b5c2263617465676f727949645c223a5c225c222c5c2274656d706c61746549645c223a32303233313538357d220a7d0a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95960" y="3524885"/>
            <a:ext cx="10582910" cy="1238250"/>
          </a:xfrm>
          <a:prstGeom prst="rect">
            <a:avLst/>
          </a:prstGeom>
        </p:spPr>
        <p:txBody>
          <a:bodyPr vert="horz" wrap="square" lIns="0" tIns="0" rIns="0" bIns="0" rtlCol="0">
            <a:normAutofit fontScale="90000"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buBlip>
                <a:blip r:embed="rId3"/>
              </a:buBlip>
            </a:pP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通常原始的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扫描文件中的数据信息是使用行索引、列索引、切片索引来表达的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离散的体素序列值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影像中，一个体素的计量单位由两部分组成，一个是体素的物理尺寸，单位为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mm³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；一个是体素的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射线衰减的相对值，单位为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（亨氏单位），当我使用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SimpleITK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来加载原始的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扫描文件时，它会把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扫描文件中的原始数据加载到一个三维的体素序列数组中，利用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Numpy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我们可把这个三维的图像序列转换为一个浮点型的三维数值型数组，这便于我们后续的数学计算。</a:t>
            </a:r>
            <a:endParaRPr lang="zh-CN" altLang="en-US" sz="14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79145" y="5024120"/>
            <a:ext cx="974090" cy="3105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</a:rPr>
              <a:t>.mhd</a:t>
            </a:r>
            <a:endParaRPr lang="en-US" altLang="zh-CN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79145" y="5868670"/>
            <a:ext cx="974090" cy="3105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</a:rPr>
              <a:t>.raw</a:t>
            </a:r>
            <a:endParaRPr lang="en-US" altLang="zh-CN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加号 7"/>
          <p:cNvSpPr/>
          <p:nvPr/>
        </p:nvSpPr>
        <p:spPr>
          <a:xfrm>
            <a:off x="1176020" y="5542915"/>
            <a:ext cx="179705" cy="179705"/>
          </a:xfrm>
          <a:prstGeom prst="mathPl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2" name="右大括号 121"/>
          <p:cNvSpPr/>
          <p:nvPr/>
        </p:nvSpPr>
        <p:spPr>
          <a:xfrm>
            <a:off x="1968500" y="5100320"/>
            <a:ext cx="145415" cy="100584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5" name="文本框 124"/>
          <p:cNvSpPr txBox="1"/>
          <p:nvPr/>
        </p:nvSpPr>
        <p:spPr>
          <a:xfrm>
            <a:off x="4472305" y="5139690"/>
            <a:ext cx="6322060" cy="10763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en-US" altLang="zh-CN" sz="800">
                <a:latin typeface="仿宋" panose="02010609060101010101" charset="-122"/>
                <a:ea typeface="仿宋" panose="02010609060101010101" charset="-122"/>
              </a:rPr>
              <a:t>import SimpleITK as sitk</a:t>
            </a:r>
            <a:endParaRPr lang="en-US" altLang="zh-CN" sz="800"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800">
                <a:latin typeface="仿宋" panose="02010609060101010101" charset="-122"/>
                <a:ea typeface="仿宋" panose="02010609060101010101" charset="-122"/>
              </a:rPr>
              <a:t>import numpy as np</a:t>
            </a:r>
            <a:endParaRPr lang="en-US" altLang="zh-CN" sz="800">
              <a:latin typeface="仿宋" panose="02010609060101010101" charset="-122"/>
              <a:ea typeface="仿宋" panose="02010609060101010101" charset="-122"/>
            </a:endParaRPr>
          </a:p>
          <a:p>
            <a:endParaRPr lang="en-US" altLang="zh-CN" sz="800"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800">
                <a:latin typeface="仿宋" panose="02010609060101010101" charset="-122"/>
                <a:ea typeface="仿宋" panose="02010609060101010101" charset="-122"/>
              </a:rPr>
              <a:t>mhd_file = 'data-unversioned\\data\\subset0\\1.3.6.1.4.1.14519.5.2.1.6279.6001.105756658031515062000744821260.mhd'</a:t>
            </a:r>
            <a:endParaRPr lang="en-US" altLang="zh-CN" sz="800">
              <a:latin typeface="仿宋" panose="02010609060101010101" charset="-122"/>
              <a:ea typeface="仿宋" panose="02010609060101010101" charset="-122"/>
            </a:endParaRPr>
          </a:p>
          <a:p>
            <a:endParaRPr lang="en-US" altLang="zh-CN" sz="800"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800">
                <a:latin typeface="仿宋" panose="02010609060101010101" charset="-122"/>
                <a:ea typeface="仿宋" panose="02010609060101010101" charset="-122"/>
              </a:rPr>
              <a:t>ct_mhd = sitk.ReadImage(mhd_file)</a:t>
            </a:r>
            <a:endParaRPr lang="en-US" altLang="zh-CN" sz="800"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800">
                <a:latin typeface="仿宋" panose="02010609060101010101" charset="-122"/>
                <a:ea typeface="仿宋" panose="02010609060101010101" charset="-122"/>
              </a:rPr>
              <a:t>ct_a = np.array(sitk.GetArrayFromImage(ct_mhd), dtype=np.float32)</a:t>
            </a:r>
            <a:endParaRPr lang="en-US" altLang="zh-CN" sz="800"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800">
                <a:latin typeface="仿宋" panose="02010609060101010101" charset="-122"/>
                <a:ea typeface="仿宋" panose="02010609060101010101" charset="-122"/>
              </a:rPr>
              <a:t>print(ct_a.shape)</a:t>
            </a:r>
            <a:endParaRPr lang="en-US" altLang="zh-CN" sz="800"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258" name="组合 257"/>
          <p:cNvGrpSpPr/>
          <p:nvPr/>
        </p:nvGrpSpPr>
        <p:grpSpPr>
          <a:xfrm>
            <a:off x="2319655" y="4754245"/>
            <a:ext cx="1894205" cy="1474470"/>
            <a:chOff x="3653" y="7487"/>
            <a:chExt cx="2983" cy="2322"/>
          </a:xfrm>
        </p:grpSpPr>
        <p:cxnSp>
          <p:nvCxnSpPr>
            <p:cNvPr id="120" name="直接箭头连接符 119"/>
            <p:cNvCxnSpPr/>
            <p:nvPr/>
          </p:nvCxnSpPr>
          <p:spPr>
            <a:xfrm flipV="1">
              <a:off x="3686" y="7561"/>
              <a:ext cx="2162" cy="221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8" name="直接箭头连接符 117"/>
            <p:cNvCxnSpPr/>
            <p:nvPr/>
          </p:nvCxnSpPr>
          <p:spPr>
            <a:xfrm flipV="1">
              <a:off x="3657" y="9759"/>
              <a:ext cx="2979" cy="3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9" name="直接箭头连接符 118"/>
            <p:cNvCxnSpPr/>
            <p:nvPr/>
          </p:nvCxnSpPr>
          <p:spPr>
            <a:xfrm flipV="1">
              <a:off x="3674" y="7487"/>
              <a:ext cx="0" cy="232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3" name="文本框 122"/>
            <p:cNvSpPr txBox="1"/>
            <p:nvPr/>
          </p:nvSpPr>
          <p:spPr>
            <a:xfrm>
              <a:off x="3653" y="7495"/>
              <a:ext cx="2303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CT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扫描体素数组</a:t>
              </a:r>
              <a:endPara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257" name="组合 256"/>
            <p:cNvGrpSpPr/>
            <p:nvPr/>
          </p:nvGrpSpPr>
          <p:grpSpPr>
            <a:xfrm>
              <a:off x="3852" y="8345"/>
              <a:ext cx="1248" cy="1258"/>
              <a:chOff x="14323" y="1029"/>
              <a:chExt cx="1248" cy="1258"/>
            </a:xfrm>
          </p:grpSpPr>
          <p:grpSp>
            <p:nvGrpSpPr>
              <p:cNvPr id="131" name="组合 130"/>
              <p:cNvGrpSpPr/>
              <p:nvPr/>
            </p:nvGrpSpPr>
            <p:grpSpPr>
              <a:xfrm>
                <a:off x="14515" y="1029"/>
                <a:ext cx="1056" cy="1066"/>
                <a:chOff x="14515" y="1029"/>
                <a:chExt cx="1056" cy="1066"/>
              </a:xfrm>
            </p:grpSpPr>
            <p:grpSp>
              <p:nvGrpSpPr>
                <p:cNvPr id="42" name="组合 41"/>
                <p:cNvGrpSpPr/>
                <p:nvPr/>
              </p:nvGrpSpPr>
              <p:grpSpPr>
                <a:xfrm>
                  <a:off x="14515" y="1885"/>
                  <a:ext cx="1056" cy="210"/>
                  <a:chOff x="12994" y="4297"/>
                  <a:chExt cx="1056" cy="210"/>
                </a:xfrm>
              </p:grpSpPr>
              <p:sp>
                <p:nvSpPr>
                  <p:cNvPr id="48" name="立方体 47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" name="立方体 48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6" name="立方体 115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7" name="立方体 116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26" name="组合 125"/>
                <p:cNvGrpSpPr/>
                <p:nvPr/>
              </p:nvGrpSpPr>
              <p:grpSpPr>
                <a:xfrm>
                  <a:off x="14515" y="1709"/>
                  <a:ext cx="1056" cy="210"/>
                  <a:chOff x="12994" y="4297"/>
                  <a:chExt cx="1056" cy="210"/>
                </a:xfrm>
              </p:grpSpPr>
              <p:sp>
                <p:nvSpPr>
                  <p:cNvPr id="127" name="立方体 126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8" name="立方体 127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9" name="立方体 128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0" name="立方体 129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9" name="组合 28"/>
                <p:cNvGrpSpPr/>
                <p:nvPr/>
              </p:nvGrpSpPr>
              <p:grpSpPr>
                <a:xfrm>
                  <a:off x="14515" y="1541"/>
                  <a:ext cx="1056" cy="210"/>
                  <a:chOff x="12994" y="4297"/>
                  <a:chExt cx="1056" cy="210"/>
                </a:xfrm>
              </p:grpSpPr>
              <p:sp>
                <p:nvSpPr>
                  <p:cNvPr id="30" name="立方体 29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2" name="立方体 31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3" name="立方体 32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4" name="立方体 33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35" name="组合 34"/>
                <p:cNvGrpSpPr/>
                <p:nvPr/>
              </p:nvGrpSpPr>
              <p:grpSpPr>
                <a:xfrm>
                  <a:off x="14515" y="1365"/>
                  <a:ext cx="1056" cy="210"/>
                  <a:chOff x="12994" y="4297"/>
                  <a:chExt cx="1056" cy="210"/>
                </a:xfrm>
              </p:grpSpPr>
              <p:sp>
                <p:nvSpPr>
                  <p:cNvPr id="36" name="立方体 35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7" name="立方体 36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0" name="立方体 39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1" name="立方体 40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3" name="组合 22"/>
                <p:cNvGrpSpPr/>
                <p:nvPr/>
              </p:nvGrpSpPr>
              <p:grpSpPr>
                <a:xfrm>
                  <a:off x="14515" y="1205"/>
                  <a:ext cx="1056" cy="210"/>
                  <a:chOff x="12994" y="4297"/>
                  <a:chExt cx="1056" cy="210"/>
                </a:xfrm>
              </p:grpSpPr>
              <p:sp>
                <p:nvSpPr>
                  <p:cNvPr id="25" name="立方体 24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" name="立方体 25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" name="立方体 26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8" name="立方体 27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2" name="组合 21"/>
                <p:cNvGrpSpPr/>
                <p:nvPr/>
              </p:nvGrpSpPr>
              <p:grpSpPr>
                <a:xfrm>
                  <a:off x="14515" y="1029"/>
                  <a:ext cx="1056" cy="210"/>
                  <a:chOff x="12994" y="4297"/>
                  <a:chExt cx="1056" cy="210"/>
                </a:xfrm>
              </p:grpSpPr>
              <p:sp>
                <p:nvSpPr>
                  <p:cNvPr id="17" name="立方体 16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8" name="立方体 17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" name="立方体 19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" name="立方体 20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132" name="组合 131"/>
              <p:cNvGrpSpPr/>
              <p:nvPr/>
            </p:nvGrpSpPr>
            <p:grpSpPr>
              <a:xfrm>
                <a:off x="14459" y="1085"/>
                <a:ext cx="1056" cy="1066"/>
                <a:chOff x="14515" y="1029"/>
                <a:chExt cx="1056" cy="1066"/>
              </a:xfrm>
            </p:grpSpPr>
            <p:grpSp>
              <p:nvGrpSpPr>
                <p:cNvPr id="133" name="组合 132"/>
                <p:cNvGrpSpPr/>
                <p:nvPr/>
              </p:nvGrpSpPr>
              <p:grpSpPr>
                <a:xfrm>
                  <a:off x="14515" y="1885"/>
                  <a:ext cx="1056" cy="210"/>
                  <a:chOff x="12994" y="4297"/>
                  <a:chExt cx="1056" cy="210"/>
                </a:xfrm>
              </p:grpSpPr>
              <p:sp>
                <p:nvSpPr>
                  <p:cNvPr id="134" name="立方体 133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5" name="立方体 134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6" name="立方体 135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7" name="立方体 136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38" name="组合 137"/>
                <p:cNvGrpSpPr/>
                <p:nvPr/>
              </p:nvGrpSpPr>
              <p:grpSpPr>
                <a:xfrm>
                  <a:off x="14515" y="1709"/>
                  <a:ext cx="1056" cy="210"/>
                  <a:chOff x="12994" y="4297"/>
                  <a:chExt cx="1056" cy="210"/>
                </a:xfrm>
              </p:grpSpPr>
              <p:sp>
                <p:nvSpPr>
                  <p:cNvPr id="139" name="立方体 138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0" name="立方体 139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1" name="立方体 140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2" name="立方体 141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43" name="组合 142"/>
                <p:cNvGrpSpPr/>
                <p:nvPr/>
              </p:nvGrpSpPr>
              <p:grpSpPr>
                <a:xfrm>
                  <a:off x="14515" y="1541"/>
                  <a:ext cx="1056" cy="210"/>
                  <a:chOff x="12994" y="4297"/>
                  <a:chExt cx="1056" cy="210"/>
                </a:xfrm>
              </p:grpSpPr>
              <p:sp>
                <p:nvSpPr>
                  <p:cNvPr id="144" name="立方体 143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5" name="立方体 144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6" name="立方体 145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7" name="立方体 146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48" name="组合 147"/>
                <p:cNvGrpSpPr/>
                <p:nvPr/>
              </p:nvGrpSpPr>
              <p:grpSpPr>
                <a:xfrm>
                  <a:off x="14515" y="1365"/>
                  <a:ext cx="1056" cy="210"/>
                  <a:chOff x="12994" y="4297"/>
                  <a:chExt cx="1056" cy="210"/>
                </a:xfrm>
              </p:grpSpPr>
              <p:sp>
                <p:nvSpPr>
                  <p:cNvPr id="149" name="立方体 148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50" name="立方体 149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51" name="立方体 150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52" name="立方体 151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53" name="组合 152"/>
                <p:cNvGrpSpPr/>
                <p:nvPr/>
              </p:nvGrpSpPr>
              <p:grpSpPr>
                <a:xfrm>
                  <a:off x="14515" y="1205"/>
                  <a:ext cx="1056" cy="210"/>
                  <a:chOff x="12994" y="4297"/>
                  <a:chExt cx="1056" cy="210"/>
                </a:xfrm>
              </p:grpSpPr>
              <p:sp>
                <p:nvSpPr>
                  <p:cNvPr id="154" name="立方体 153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55" name="立方体 154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56" name="立方体 155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57" name="立方体 156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58" name="组合 157"/>
                <p:cNvGrpSpPr/>
                <p:nvPr/>
              </p:nvGrpSpPr>
              <p:grpSpPr>
                <a:xfrm>
                  <a:off x="14515" y="1029"/>
                  <a:ext cx="1056" cy="210"/>
                  <a:chOff x="12994" y="4297"/>
                  <a:chExt cx="1056" cy="210"/>
                </a:xfrm>
              </p:grpSpPr>
              <p:sp>
                <p:nvSpPr>
                  <p:cNvPr id="159" name="立方体 158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0" name="立方体 159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1" name="立方体 160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2" name="立方体 161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163" name="组合 162"/>
              <p:cNvGrpSpPr/>
              <p:nvPr/>
            </p:nvGrpSpPr>
            <p:grpSpPr>
              <a:xfrm>
                <a:off x="14411" y="1133"/>
                <a:ext cx="1056" cy="1066"/>
                <a:chOff x="14515" y="1029"/>
                <a:chExt cx="1056" cy="1066"/>
              </a:xfrm>
            </p:grpSpPr>
            <p:grpSp>
              <p:nvGrpSpPr>
                <p:cNvPr id="164" name="组合 163"/>
                <p:cNvGrpSpPr/>
                <p:nvPr/>
              </p:nvGrpSpPr>
              <p:grpSpPr>
                <a:xfrm>
                  <a:off x="14515" y="1885"/>
                  <a:ext cx="1056" cy="210"/>
                  <a:chOff x="12994" y="4297"/>
                  <a:chExt cx="1056" cy="210"/>
                </a:xfrm>
              </p:grpSpPr>
              <p:sp>
                <p:nvSpPr>
                  <p:cNvPr id="165" name="立方体 164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6" name="立方体 165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7" name="立方体 166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8" name="立方体 167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69" name="组合 168"/>
                <p:cNvGrpSpPr/>
                <p:nvPr/>
              </p:nvGrpSpPr>
              <p:grpSpPr>
                <a:xfrm>
                  <a:off x="14515" y="1709"/>
                  <a:ext cx="1056" cy="210"/>
                  <a:chOff x="12994" y="4297"/>
                  <a:chExt cx="1056" cy="210"/>
                </a:xfrm>
              </p:grpSpPr>
              <p:sp>
                <p:nvSpPr>
                  <p:cNvPr id="170" name="立方体 169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1" name="立方体 170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2" name="立方体 171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3" name="立方体 172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74" name="组合 173"/>
                <p:cNvGrpSpPr/>
                <p:nvPr/>
              </p:nvGrpSpPr>
              <p:grpSpPr>
                <a:xfrm>
                  <a:off x="14515" y="1541"/>
                  <a:ext cx="1056" cy="210"/>
                  <a:chOff x="12994" y="4297"/>
                  <a:chExt cx="1056" cy="210"/>
                </a:xfrm>
              </p:grpSpPr>
              <p:sp>
                <p:nvSpPr>
                  <p:cNvPr id="175" name="立方体 174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6" name="立方体 175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7" name="立方体 176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8" name="立方体 177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79" name="组合 178"/>
                <p:cNvGrpSpPr/>
                <p:nvPr/>
              </p:nvGrpSpPr>
              <p:grpSpPr>
                <a:xfrm>
                  <a:off x="14515" y="1365"/>
                  <a:ext cx="1056" cy="210"/>
                  <a:chOff x="12994" y="4297"/>
                  <a:chExt cx="1056" cy="210"/>
                </a:xfrm>
              </p:grpSpPr>
              <p:sp>
                <p:nvSpPr>
                  <p:cNvPr id="180" name="立方体 179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81" name="立方体 180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82" name="立方体 181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83" name="立方体 182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84" name="组合 183"/>
                <p:cNvGrpSpPr/>
                <p:nvPr/>
              </p:nvGrpSpPr>
              <p:grpSpPr>
                <a:xfrm>
                  <a:off x="14515" y="1205"/>
                  <a:ext cx="1056" cy="210"/>
                  <a:chOff x="12994" y="4297"/>
                  <a:chExt cx="1056" cy="210"/>
                </a:xfrm>
              </p:grpSpPr>
              <p:sp>
                <p:nvSpPr>
                  <p:cNvPr id="185" name="立方体 184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86" name="立方体 185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87" name="立方体 186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88" name="立方体 187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89" name="组合 188"/>
                <p:cNvGrpSpPr/>
                <p:nvPr/>
              </p:nvGrpSpPr>
              <p:grpSpPr>
                <a:xfrm>
                  <a:off x="14515" y="1029"/>
                  <a:ext cx="1056" cy="210"/>
                  <a:chOff x="12994" y="4297"/>
                  <a:chExt cx="1056" cy="210"/>
                </a:xfrm>
              </p:grpSpPr>
              <p:sp>
                <p:nvSpPr>
                  <p:cNvPr id="190" name="立方体 189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1" name="立方体 190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2" name="立方体 191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3" name="立方体 192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195" name="组合 194"/>
              <p:cNvGrpSpPr/>
              <p:nvPr/>
            </p:nvGrpSpPr>
            <p:grpSpPr>
              <a:xfrm>
                <a:off x="14363" y="1181"/>
                <a:ext cx="1056" cy="1066"/>
                <a:chOff x="14515" y="1029"/>
                <a:chExt cx="1056" cy="1066"/>
              </a:xfrm>
            </p:grpSpPr>
            <p:grpSp>
              <p:nvGrpSpPr>
                <p:cNvPr id="196" name="组合 195"/>
                <p:cNvGrpSpPr/>
                <p:nvPr/>
              </p:nvGrpSpPr>
              <p:grpSpPr>
                <a:xfrm>
                  <a:off x="14515" y="1885"/>
                  <a:ext cx="1056" cy="210"/>
                  <a:chOff x="12994" y="4297"/>
                  <a:chExt cx="1056" cy="210"/>
                </a:xfrm>
              </p:grpSpPr>
              <p:sp>
                <p:nvSpPr>
                  <p:cNvPr id="197" name="立方体 196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8" name="立方体 197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9" name="立方体 198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0" name="立方体 199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01" name="组合 200"/>
                <p:cNvGrpSpPr/>
                <p:nvPr/>
              </p:nvGrpSpPr>
              <p:grpSpPr>
                <a:xfrm>
                  <a:off x="14515" y="1709"/>
                  <a:ext cx="1056" cy="210"/>
                  <a:chOff x="12994" y="4297"/>
                  <a:chExt cx="1056" cy="210"/>
                </a:xfrm>
              </p:grpSpPr>
              <p:sp>
                <p:nvSpPr>
                  <p:cNvPr id="202" name="立方体 201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3" name="立方体 202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4" name="立方体 203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5" name="立方体 204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06" name="组合 205"/>
                <p:cNvGrpSpPr/>
                <p:nvPr/>
              </p:nvGrpSpPr>
              <p:grpSpPr>
                <a:xfrm>
                  <a:off x="14515" y="1541"/>
                  <a:ext cx="1056" cy="210"/>
                  <a:chOff x="12994" y="4297"/>
                  <a:chExt cx="1056" cy="210"/>
                </a:xfrm>
              </p:grpSpPr>
              <p:sp>
                <p:nvSpPr>
                  <p:cNvPr id="207" name="立方体 206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8" name="立方体 207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9" name="立方体 208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0" name="立方体 209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11" name="组合 210"/>
                <p:cNvGrpSpPr/>
                <p:nvPr/>
              </p:nvGrpSpPr>
              <p:grpSpPr>
                <a:xfrm>
                  <a:off x="14515" y="1365"/>
                  <a:ext cx="1056" cy="210"/>
                  <a:chOff x="12994" y="4297"/>
                  <a:chExt cx="1056" cy="210"/>
                </a:xfrm>
              </p:grpSpPr>
              <p:sp>
                <p:nvSpPr>
                  <p:cNvPr id="212" name="立方体 211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3" name="立方体 212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4" name="立方体 213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5" name="立方体 214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16" name="组合 215"/>
                <p:cNvGrpSpPr/>
                <p:nvPr/>
              </p:nvGrpSpPr>
              <p:grpSpPr>
                <a:xfrm>
                  <a:off x="14515" y="1205"/>
                  <a:ext cx="1056" cy="210"/>
                  <a:chOff x="12994" y="4297"/>
                  <a:chExt cx="1056" cy="210"/>
                </a:xfrm>
              </p:grpSpPr>
              <p:sp>
                <p:nvSpPr>
                  <p:cNvPr id="217" name="立方体 216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8" name="立方体 217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9" name="立方体 218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0" name="立方体 219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21" name="组合 220"/>
                <p:cNvGrpSpPr/>
                <p:nvPr/>
              </p:nvGrpSpPr>
              <p:grpSpPr>
                <a:xfrm>
                  <a:off x="14515" y="1029"/>
                  <a:ext cx="1056" cy="210"/>
                  <a:chOff x="12994" y="4297"/>
                  <a:chExt cx="1056" cy="210"/>
                </a:xfrm>
              </p:grpSpPr>
              <p:sp>
                <p:nvSpPr>
                  <p:cNvPr id="222" name="立方体 221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3" name="立方体 222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4" name="立方体 223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5" name="立方体 224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226" name="组合 225"/>
              <p:cNvGrpSpPr/>
              <p:nvPr/>
            </p:nvGrpSpPr>
            <p:grpSpPr>
              <a:xfrm>
                <a:off x="14323" y="1221"/>
                <a:ext cx="1056" cy="1066"/>
                <a:chOff x="14515" y="1029"/>
                <a:chExt cx="1056" cy="1066"/>
              </a:xfrm>
            </p:grpSpPr>
            <p:grpSp>
              <p:nvGrpSpPr>
                <p:cNvPr id="227" name="组合 226"/>
                <p:cNvGrpSpPr/>
                <p:nvPr/>
              </p:nvGrpSpPr>
              <p:grpSpPr>
                <a:xfrm>
                  <a:off x="14515" y="1885"/>
                  <a:ext cx="1056" cy="210"/>
                  <a:chOff x="12994" y="4297"/>
                  <a:chExt cx="1056" cy="210"/>
                </a:xfrm>
              </p:grpSpPr>
              <p:sp>
                <p:nvSpPr>
                  <p:cNvPr id="228" name="立方体 227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9" name="立方体 228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0" name="立方体 229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1" name="立方体 230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32" name="组合 231"/>
                <p:cNvGrpSpPr/>
                <p:nvPr/>
              </p:nvGrpSpPr>
              <p:grpSpPr>
                <a:xfrm>
                  <a:off x="14515" y="1709"/>
                  <a:ext cx="1056" cy="210"/>
                  <a:chOff x="12994" y="4297"/>
                  <a:chExt cx="1056" cy="210"/>
                </a:xfrm>
              </p:grpSpPr>
              <p:sp>
                <p:nvSpPr>
                  <p:cNvPr id="233" name="立方体 232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4" name="立方体 233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5" name="立方体 234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6" name="立方体 235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37" name="组合 236"/>
                <p:cNvGrpSpPr/>
                <p:nvPr/>
              </p:nvGrpSpPr>
              <p:grpSpPr>
                <a:xfrm>
                  <a:off x="14515" y="1541"/>
                  <a:ext cx="1056" cy="210"/>
                  <a:chOff x="12994" y="4297"/>
                  <a:chExt cx="1056" cy="210"/>
                </a:xfrm>
              </p:grpSpPr>
              <p:sp>
                <p:nvSpPr>
                  <p:cNvPr id="238" name="立方体 237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9" name="立方体 238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40" name="立方体 239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41" name="立方体 240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42" name="组合 241"/>
                <p:cNvGrpSpPr/>
                <p:nvPr/>
              </p:nvGrpSpPr>
              <p:grpSpPr>
                <a:xfrm>
                  <a:off x="14515" y="1365"/>
                  <a:ext cx="1056" cy="210"/>
                  <a:chOff x="12994" y="4297"/>
                  <a:chExt cx="1056" cy="210"/>
                </a:xfrm>
              </p:grpSpPr>
              <p:sp>
                <p:nvSpPr>
                  <p:cNvPr id="243" name="立方体 242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44" name="立方体 243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45" name="立方体 244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46" name="立方体 245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47" name="组合 246"/>
                <p:cNvGrpSpPr/>
                <p:nvPr/>
              </p:nvGrpSpPr>
              <p:grpSpPr>
                <a:xfrm>
                  <a:off x="14515" y="1205"/>
                  <a:ext cx="1056" cy="210"/>
                  <a:chOff x="12994" y="4297"/>
                  <a:chExt cx="1056" cy="210"/>
                </a:xfrm>
              </p:grpSpPr>
              <p:sp>
                <p:nvSpPr>
                  <p:cNvPr id="248" name="立方体 247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49" name="立方体 248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0" name="立方体 249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1" name="立方体 250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52" name="组合 251"/>
                <p:cNvGrpSpPr/>
                <p:nvPr/>
              </p:nvGrpSpPr>
              <p:grpSpPr>
                <a:xfrm>
                  <a:off x="14515" y="1029"/>
                  <a:ext cx="1056" cy="210"/>
                  <a:chOff x="12994" y="4297"/>
                  <a:chExt cx="1056" cy="210"/>
                </a:xfrm>
              </p:grpSpPr>
              <p:sp>
                <p:nvSpPr>
                  <p:cNvPr id="253" name="立方体 252"/>
                  <p:cNvSpPr/>
                  <p:nvPr/>
                </p:nvSpPr>
                <p:spPr>
                  <a:xfrm>
                    <a:off x="12994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4" name="立方体 253"/>
                  <p:cNvSpPr/>
                  <p:nvPr/>
                </p:nvSpPr>
                <p:spPr>
                  <a:xfrm>
                    <a:off x="13246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5" name="立方体 254"/>
                  <p:cNvSpPr/>
                  <p:nvPr/>
                </p:nvSpPr>
                <p:spPr>
                  <a:xfrm>
                    <a:off x="13498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6" name="立方体 255"/>
                  <p:cNvSpPr/>
                  <p:nvPr/>
                </p:nvSpPr>
                <p:spPr>
                  <a:xfrm>
                    <a:off x="13750" y="4297"/>
                    <a:ext cx="301" cy="211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</p:grpSp>
        </p:grpSp>
      </p:grpSp>
    </p:spTree>
    <p:custDataLst>
      <p:tags r:id="rId5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sz="2800"/>
              <a:t>加载单个</a:t>
            </a:r>
            <a:r>
              <a:rPr lang="en-US" altLang="zh-CN" sz="2800"/>
              <a:t>CT</a:t>
            </a:r>
            <a:r>
              <a:rPr lang="zh-CN" altLang="en-US" sz="2800"/>
              <a:t>扫描文件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</a:rPr>
              <a:t>---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亨氏单位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正文" descr="7b0a202020202262756c6c6574223a20227b5c2263617465676f727949645c223a5c225c222c5c2274656d706c61746549645c223a32303233313538357d220a7d0a"/>
              <p:cNvSpPr>
                <a:spLocks noGrp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735965" y="1605280"/>
                <a:ext cx="10582910" cy="208534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rmAutofit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3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ea"/>
                    <a:ea typeface="+mn-ea"/>
                    <a:cs typeface="+mn-ea"/>
                    <a:sym typeface="+mn-ea"/>
                  </a:defRPr>
                </a:lvl1pPr>
                <a:lvl2pPr marL="538480" indent="-206375" algn="l" defTabSz="914400" rtl="0" eaLnBrk="1" latinLnBrk="0" hangingPunct="1">
                  <a:lnSpc>
                    <a:spcPct val="13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  <a:cs typeface="+mn-ea"/>
                    <a:sym typeface="+mn-ea"/>
                  </a:defRPr>
                </a:lvl2pPr>
                <a:lvl3pPr marL="798830" indent="-161925" algn="l" defTabSz="914400" rtl="0" eaLnBrk="1" latinLnBrk="0" hangingPunct="1">
                  <a:lnSpc>
                    <a:spcPct val="13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  <a:cs typeface="+mn-ea"/>
                    <a:sym typeface="+mn-ea"/>
                  </a:defRPr>
                </a:lvl3pPr>
                <a:lvl4pPr marL="1030605" indent="-149225" algn="l" defTabSz="914400" rtl="0" eaLnBrk="1" latinLnBrk="0" hangingPunct="1">
                  <a:lnSpc>
                    <a:spcPct val="13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  <a:cs typeface="+mn-ea"/>
                    <a:sym typeface="+mn-ea"/>
                  </a:defRPr>
                </a:lvl4pPr>
                <a:lvl5pPr marL="1235075" indent="-127000" algn="l" defTabSz="914400" rtl="0" eaLnBrk="1" latinLnBrk="0" hangingPunct="1">
                  <a:lnSpc>
                    <a:spcPct val="13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  <a:cs typeface="+mn-ea"/>
                    <a:sym typeface="+mn-ea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lnSpc>
                    <a:spcPct val="150000"/>
                  </a:lnSpc>
                  <a:buBlip>
                    <a:blip r:embed="rId3"/>
                  </a:buBlip>
                </a:pPr>
                <a:r>
                  <a:rPr lang="zh-CN" altLang="en-US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亨氏单位（</a:t>
                </a:r>
                <a:r>
                  <a:rPr lang="en-US" altLang="zh-CN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Hounsfield Unit, HU</a:t>
                </a:r>
                <a:r>
                  <a:rPr lang="zh-CN" altLang="en-US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），又称</a:t>
                </a:r>
                <a:r>
                  <a:rPr lang="en-US" altLang="zh-CN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​​CT </a:t>
                </a:r>
                <a:r>
                  <a:rPr lang="zh-CN" altLang="en-US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值</a:t>
                </a:r>
                <a:r>
                  <a:rPr lang="en-US" altLang="zh-CN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​​</a:t>
                </a:r>
                <a:r>
                  <a:rPr lang="zh-CN" altLang="en-US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，是计算机断层扫描（</a:t>
                </a:r>
                <a:r>
                  <a:rPr lang="en-US" altLang="zh-CN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CT</a:t>
                </a:r>
                <a:r>
                  <a:rPr lang="zh-CN" altLang="en-US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）成像中用于量化组织对</a:t>
                </a:r>
                <a:r>
                  <a:rPr lang="en-US" altLang="zh-CN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X </a:t>
                </a:r>
                <a:r>
                  <a:rPr lang="zh-CN" altLang="en-US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射线吸收能力的标准单位。它以英国工程师</a:t>
                </a:r>
                <a:r>
                  <a:rPr lang="en-US" altLang="zh-CN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​​Godfrey Hounsfield​​</a:t>
                </a:r>
                <a:r>
                  <a:rPr lang="zh-CN" altLang="en-US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</a:t>
                </a:r>
                <a:r>
                  <a:rPr lang="en-US" altLang="zh-CN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CT </a:t>
                </a:r>
                <a:r>
                  <a:rPr lang="zh-CN" altLang="en-US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扫描仪的发明者，</a:t>
                </a:r>
                <a:r>
                  <a:rPr lang="en-US" altLang="zh-CN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1979 </a:t>
                </a:r>
                <a:r>
                  <a:rPr lang="zh-CN" altLang="en-US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年诺贝尔生理学或医学奖得主）的名字命名，是医学影像分析中的重要概念。</a:t>
                </a:r>
                <a:endParaRPr lang="zh-CN" altLang="en-US"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230505" fontAlgn="auto">
                  <a:lnSpc>
                    <a:spcPct val="150000"/>
                  </a:lnSpc>
                  <a:buFont typeface="Wingdings" panose="05000000000000000000" charset="0"/>
                  <a:buChar char="ü"/>
                </a:pPr>
                <a:r>
                  <a:rPr lang="zh-CN" altLang="en-US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数学定义：</a:t>
                </a:r>
                <a14:m>
                  <m:oMath xmlns:m="http://schemas.openxmlformats.org/officeDocument/2006/math">
                    <m:r>
                      <a:rPr lang="en-US" altLang="zh-CN" sz="14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𝐻𝑈</m:t>
                    </m:r>
                    <m:r>
                      <a:rPr lang="en-US" altLang="zh-CN" sz="14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14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1000</m:t>
                    </m:r>
                    <m:r>
                      <a:rPr lang="en-US" altLang="zh-CN" sz="14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×</m:t>
                    </m:r>
                    <m:f>
                      <m:fPr>
                        <m:ctrlPr>
                          <a:rPr lang="en-US" altLang="zh-CN" sz="1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4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1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4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𝑤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14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𝑤</m:t>
                            </m:r>
                          </m:sub>
                        </m:sSub>
                        <m:r>
                          <a:rPr lang="en-US" altLang="zh-CN" sz="1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4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𝑎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表示物质的线性衰减系数；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zh-CN" altLang="en-US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表示水的线性衰减系数（参考标准）；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表示空气的衰减系数（约等于</a:t>
                </a:r>
                <a:r>
                  <a:rPr lang="en-US" altLang="zh-CN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0</a:t>
                </a:r>
                <a:r>
                  <a:rPr lang="zh-CN" altLang="en-US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）</a:t>
                </a:r>
                <a:endParaRPr lang="zh-CN" altLang="en-US"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pPr indent="230505" fontAlgn="auto">
                  <a:lnSpc>
                    <a:spcPct val="150000"/>
                  </a:lnSpc>
                  <a:buFont typeface="Wingdings" panose="05000000000000000000" charset="0"/>
                  <a:buChar char="ü"/>
                </a:pPr>
                <a:r>
                  <a:rPr lang="zh-CN" altLang="en-US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常见物质的</a:t>
                </a:r>
                <a:r>
                  <a:rPr lang="en-US" altLang="zh-CN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HU</a:t>
                </a:r>
                <a:r>
                  <a:rPr lang="zh-CN" altLang="en-US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值范围</a:t>
                </a:r>
                <a:endParaRPr lang="zh-CN" altLang="en-US"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正文" descr="7b0a202020202262756c6c6574223a20227b5c2263617465676f727949645c223a5c225c222c5c2274656d706c61746549645c223a32303233313538357d220a7d0a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735965" y="1605280"/>
                <a:ext cx="10582910" cy="208534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/>
          <p:nvPr>
            <p:custDataLst>
              <p:tags r:id="rId6"/>
            </p:custDataLst>
          </p:nvPr>
        </p:nvGraphicFramePr>
        <p:xfrm>
          <a:off x="791210" y="3733165"/>
          <a:ext cx="9646285" cy="2611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405"/>
                <a:gridCol w="4460240"/>
                <a:gridCol w="3215640"/>
              </a:tblGrid>
              <a:tr h="2901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物质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组织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HU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值范围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典型应用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901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空气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​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-1000 HU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肺、肠道等含气结构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901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脂肪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​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-120 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至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-90 HU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脂肪组织分析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901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水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​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 HU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（基准）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校准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CT 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设备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901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脑脊液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(CSF)​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 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至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20 HU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脑部影像分析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901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​​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软组织（肌肉）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 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至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70 HU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肿瘤、器官检测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901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血液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​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 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至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60 HU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血管成像（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CTA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901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​​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骨骼（皮质骨）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700 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至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3000 HU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骨折检测、骨密度测量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901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金属（如钛）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&gt;3000 HU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人工关节、牙科植入物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sz="2800"/>
              <a:t>加载单个</a:t>
            </a:r>
            <a:r>
              <a:rPr lang="en-US" altLang="zh-CN" sz="2800"/>
              <a:t>CT</a:t>
            </a:r>
            <a:r>
              <a:rPr lang="zh-CN" altLang="en-US" sz="2800"/>
              <a:t>扫描文件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</a:rPr>
              <a:t>---CT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扫描的形状和体素大小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正文" descr="7b0a202020202262756c6c6574223a20227b5c2263617465676f727949645c223a5c225c222c5c2274656d706c61746549645c223a32303233313538357d220a7d0a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35965" y="1605280"/>
            <a:ext cx="10582910" cy="2470150"/>
          </a:xfrm>
          <a:prstGeom prst="rect">
            <a:avLst/>
          </a:prstGeom>
        </p:spPr>
        <p:txBody>
          <a:bodyPr vert="horz" wrap="square" lIns="0" tIns="0" rIns="0" bIns="0" rtlCol="0">
            <a:normAutofit fontScale="90000"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buBlip>
                <a:blip r:embed="rId3"/>
              </a:buBlip>
            </a:pPr>
            <a:r>
              <a:rPr lang="zh-CN" altLang="en-US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原始的</a:t>
            </a:r>
            <a:r>
              <a:rPr lang="en-US" altLang="zh-CN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</a:t>
            </a:r>
            <a:r>
              <a:rPr lang="zh-CN" altLang="en-US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扫描信息是以</a:t>
            </a:r>
            <a:r>
              <a:rPr lang="en-US" altLang="zh-CN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体素</a:t>
            </a:r>
            <a:r>
              <a:rPr lang="en-US" altLang="zh-CN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的形式保存在原始数据文件中，体素</a:t>
            </a:r>
            <a:r>
              <a:rPr lang="en-US" altLang="zh-CN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​​</a:t>
            </a:r>
            <a:r>
              <a:rPr lang="zh-CN" altLang="en-US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</a:t>
            </a:r>
            <a:r>
              <a:rPr lang="zh-CN" altLang="en-US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图像中最小可分辨的三维体积单元，代表扫描物体在某个小立方体内的密度平均值。每个体素包含三个关键属性：</a:t>
            </a:r>
            <a:endParaRPr lang="zh-CN" altLang="en-US" sz="1555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30505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空间位置：有患者坐标系的物理坐标（</a:t>
            </a:r>
            <a:r>
              <a:rPr lang="en-US" altLang="zh-CN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x,y,z</a:t>
            </a:r>
            <a:r>
              <a:rPr lang="zh-CN" altLang="en-US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）来确定</a:t>
            </a:r>
            <a:r>
              <a:rPr lang="en-US" altLang="zh-CN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lang="zh-CN" altLang="en-US" sz="1555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30505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尺寸：一个体素的大小，由体素的长、宽、高来决定，即体素的分辨率，体素越小，分辨率越高，反之则分辨率越低。临床常用体素尺寸：</a:t>
            </a:r>
            <a:r>
              <a:rPr lang="en-US" altLang="zh-CN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0.5–1mm</a:t>
            </a:r>
            <a:r>
              <a:rPr lang="zh-CN" altLang="en-US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（高分辨率</a:t>
            </a:r>
            <a:r>
              <a:rPr lang="en-US" altLang="zh-CN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</a:t>
            </a:r>
            <a:r>
              <a:rPr lang="zh-CN" altLang="en-US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）至</a:t>
            </a:r>
            <a:r>
              <a:rPr lang="en-US" altLang="zh-CN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2–5mm</a:t>
            </a:r>
            <a:r>
              <a:rPr lang="zh-CN" altLang="en-US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（常规扫描）</a:t>
            </a:r>
            <a:endParaRPr lang="zh-CN" altLang="en-US" sz="1555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30505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灰度值：反映组织的</a:t>
            </a:r>
            <a:r>
              <a:rPr lang="en-US" altLang="zh-CN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zh-CN" altLang="en-US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射线衰减系数，通常以</a:t>
            </a:r>
            <a:r>
              <a:rPr lang="en-US" altLang="zh-CN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Hounsfield</a:t>
            </a:r>
            <a:r>
              <a:rPr lang="zh-CN" altLang="en-US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单位，</a:t>
            </a:r>
            <a:r>
              <a:rPr lang="en-US" altLang="zh-CN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</a:t>
            </a:r>
            <a:r>
              <a:rPr lang="zh-CN" altLang="en-US" sz="155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表示。</a:t>
            </a:r>
            <a:endParaRPr lang="zh-CN" altLang="en-US" sz="1555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fontAlgn="auto">
              <a:lnSpc>
                <a:spcPct val="150000"/>
              </a:lnSpc>
              <a:buBlip>
                <a:blip r:embed="rId3"/>
              </a:buBlip>
            </a:pPr>
            <a:endParaRPr lang="zh-CN" altLang="en-US" sz="1400">
              <a:solidFill>
                <a:schemeClr val="tx1">
                  <a:lumMod val="50000"/>
                  <a:lumOff val="50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  <a:p>
            <a:pPr marL="0" indent="0" fontAlgn="auto">
              <a:lnSpc>
                <a:spcPct val="150000"/>
              </a:lnSpc>
              <a:buBlip>
                <a:blip r:embed="rId3"/>
              </a:buBlip>
            </a:pPr>
            <a:endParaRPr lang="zh-CN" altLang="en-US" sz="1400">
              <a:solidFill>
                <a:schemeClr val="tx1">
                  <a:lumMod val="50000"/>
                  <a:lumOff val="50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感谢观看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299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VALUE" val="340"/>
  <p:tag name="KSO_WM_TEMPLATE_CATEGORY" val="custom"/>
  <p:tag name="KSO_WM_TEMPLATE_INDEX" val="20233299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299"/>
  <p:tag name="KSO_WM_TEMPLATE_THUMBS_INDEX" val="1、9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299_1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PRESET_TEXT" val="单击添加文档标题"/>
</p:tagLst>
</file>

<file path=ppt/tags/tag69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299_1*f*4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PRESET_TEXT" val="汇报人：WPS"/>
</p:tagLst>
</file>

<file path=ppt/tags/tag70.xml><?xml version="1.0" encoding="utf-8"?>
<p:tagLst xmlns:p="http://schemas.openxmlformats.org/presentationml/2006/main">
  <p:tag name="KSO_WM_SLIDE_ID" val="custom20233299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299"/>
  <p:tag name="KSO_WM_SLIDE_LAYOUT" val="a_f"/>
  <p:tag name="KSO_WM_SLIDE_LAYOUT_CNT" val="1_1"/>
  <p:tag name="KSO_WM_SLIDE_TYPE" val="title"/>
  <p:tag name="KSO_WM_SLIDE_SUBTYPE" val="pureTxt"/>
  <p:tag name="KSO_WM_TEMPLATE_THUMBS_INDEX" val="1、9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4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  <p:tag name="KSO_WM_UNIT_PRESET_TEXT" val="目录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3299_4*l_h_i*1_4_1"/>
  <p:tag name="KSO_WM_TEMPLATE_CATEGORY" val="custom"/>
  <p:tag name="KSO_WM_TEMPLATE_INDEX" val="20233299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86.1600646972656,&quot;left&quot;:583.7853468430887,&quot;top&quot;:202.6274479663278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233299_4*l_h_a*1_4_1"/>
  <p:tag name="KSO_WM_TEMPLATE_CATEGORY" val="custom"/>
  <p:tag name="KSO_WM_TEMPLATE_INDEX" val="20233299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86.1600646972656,&quot;left&quot;:583.7853468430887,&quot;top&quot;:202.6274479663278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3299_4*l_h_i*1_4_1"/>
  <p:tag name="KSO_WM_TEMPLATE_CATEGORY" val="custom"/>
  <p:tag name="KSO_WM_TEMPLATE_INDEX" val="20233299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86.1600646972656,&quot;left&quot;:583.7853468430887,&quot;top&quot;:202.6274479663278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233299_4*l_h_a*1_4_1"/>
  <p:tag name="KSO_WM_TEMPLATE_CATEGORY" val="custom"/>
  <p:tag name="KSO_WM_TEMPLATE_INDEX" val="20233299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86.1600646972656,&quot;left&quot;:583.7853468430887,&quot;top&quot;:202.6274479663278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3299_4*l_h_i*1_4_1"/>
  <p:tag name="KSO_WM_TEMPLATE_CATEGORY" val="custom"/>
  <p:tag name="KSO_WM_TEMPLATE_INDEX" val="20233299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86.1600646972656,&quot;left&quot;:583.7853468430887,&quot;top&quot;:202.6274479663278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233299_4*l_h_a*1_4_1"/>
  <p:tag name="KSO_WM_TEMPLATE_CATEGORY" val="custom"/>
  <p:tag name="KSO_WM_TEMPLATE_INDEX" val="20233299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86.1600646972656,&quot;left&quot;:583.7853468430887,&quot;top&quot;:202.6274479663278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3299_4*l_h_i*1_4_1"/>
  <p:tag name="KSO_WM_TEMPLATE_CATEGORY" val="custom"/>
  <p:tag name="KSO_WM_TEMPLATE_INDEX" val="20233299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86.1600646972656,&quot;left&quot;:583.7853468430887,&quot;top&quot;:202.6274479663278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233299_4*l_h_a*1_4_1"/>
  <p:tag name="KSO_WM_TEMPLATE_CATEGORY" val="custom"/>
  <p:tag name="KSO_WM_TEMPLATE_INDEX" val="20233299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86.1600646972656,&quot;left&quot;:583.7853468430887,&quot;top&quot;:202.6274479663278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3299_4*l_h_i*1_4_1"/>
  <p:tag name="KSO_WM_TEMPLATE_CATEGORY" val="custom"/>
  <p:tag name="KSO_WM_TEMPLATE_INDEX" val="20233299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86.1600646972656,&quot;left&quot;:583.7853468430887,&quot;top&quot;:202.6274479663278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233299_4*l_h_a*1_4_1"/>
  <p:tag name="KSO_WM_TEMPLATE_CATEGORY" val="custom"/>
  <p:tag name="KSO_WM_TEMPLATE_INDEX" val="20233299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86.1600646972656,&quot;left&quot;:583.7853468430887,&quot;top&quot;:202.6274479663278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</p:tagLst>
</file>

<file path=ppt/tags/tag82.xml><?xml version="1.0" encoding="utf-8"?>
<p:tagLst xmlns:p="http://schemas.openxmlformats.org/presentationml/2006/main">
  <p:tag name="KSO_WM_SLIDE_ID" val="custom20233299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3299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7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8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299_7*e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" val="01"/>
</p:tagLst>
</file>

<file path=ppt/tags/tag85.xml><?xml version="1.0" encoding="utf-8"?>
<p:tagLst xmlns:p="http://schemas.openxmlformats.org/presentationml/2006/main">
  <p:tag name="KSO_WM_SLIDE_ID" val="custom2023329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299"/>
  <p:tag name="KSO_WM_SLIDE_TYPE" val="sectionTitle"/>
  <p:tag name="KSO_WM_SLIDE_SUBTYPE" val="pureTxt"/>
  <p:tag name="KSO_WM_SLIDE_LAYOUT" val="a_e"/>
  <p:tag name="KSO_WM_SLIDE_LAYOUT_CNT" val="1_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</p:tagLst>
</file>

<file path=ppt/tags/tag87.xml><?xml version="1.0" encoding="utf-8"?>
<p:tagLst xmlns:p="http://schemas.openxmlformats.org/presentationml/2006/main"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9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7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8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299_7*e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" val="01"/>
</p:tagLst>
</file>

<file path=ppt/tags/tag90.xml><?xml version="1.0" encoding="utf-8"?>
<p:tagLst xmlns:p="http://schemas.openxmlformats.org/presentationml/2006/main">
  <p:tag name="KSO_WM_SLIDE_ID" val="custom2023329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299"/>
  <p:tag name="KSO_WM_SLIDE_TYPE" val="sectionTitle"/>
  <p:tag name="KSO_WM_SLIDE_SUBTYPE" val="pureTxt"/>
  <p:tag name="KSO_WM_SLIDE_LAYOUT" val="a_e"/>
  <p:tag name="KSO_WM_SLIDE_LAYOUT_CNT" val="1_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</p:tagLst>
</file>

<file path=ppt/tags/tag92.xml><?xml version="1.0" encoding="utf-8"?>
<p:tagLst xmlns:p="http://schemas.openxmlformats.org/presentationml/2006/main"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9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</p:tagLst>
</file>

<file path=ppt/tags/tag94.xml><?xml version="1.0" encoding="utf-8"?>
<p:tagLst xmlns:p="http://schemas.openxmlformats.org/presentationml/2006/main"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9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</p:tagLst>
</file>

<file path=ppt/tags/tag96.xml><?xml version="1.0" encoding="utf-8"?>
<p:tagLst xmlns:p="http://schemas.openxmlformats.org/presentationml/2006/main"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9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7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9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299_7*e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" val="01"/>
</p:tagLst>
</file>

<file path=ppt/tags/tag99.xml><?xml version="1.0" encoding="utf-8"?>
<p:tagLst xmlns:p="http://schemas.openxmlformats.org/presentationml/2006/main">
  <p:tag name="KSO_WM_SLIDE_ID" val="custom2023329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299"/>
  <p:tag name="KSO_WM_SLIDE_TYPE" val="sectionTitle"/>
  <p:tag name="KSO_WM_SLIDE_SUBTYPE" val="pureTxt"/>
  <p:tag name="KSO_WM_SLIDE_LAYOUT" val="a_e"/>
  <p:tag name="KSO_WM_SLIDE_LAYOUT_CNT" val="1_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</p:tagLst>
</file>

<file path=ppt/tags/tag101.xml><?xml version="1.0" encoding="utf-8"?>
<p:tagLst xmlns:p="http://schemas.openxmlformats.org/presentationml/2006/main"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9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</p:tagLst>
</file>

<file path=ppt/tags/tag103.xml><?xml version="1.0" encoding="utf-8"?>
<p:tagLst xmlns:p="http://schemas.openxmlformats.org/presentationml/2006/main"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9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7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10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299_7*e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" val="01"/>
</p:tagLst>
</file>

<file path=ppt/tags/tag106.xml><?xml version="1.0" encoding="utf-8"?>
<p:tagLst xmlns:p="http://schemas.openxmlformats.org/presentationml/2006/main">
  <p:tag name="KSO_WM_SLIDE_ID" val="custom2023329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299"/>
  <p:tag name="KSO_WM_SLIDE_TYPE" val="sectionTitle"/>
  <p:tag name="KSO_WM_SLIDE_SUBTYPE" val="pureTxt"/>
  <p:tag name="KSO_WM_SLIDE_LAYOUT" val="a_e"/>
  <p:tag name="KSO_WM_SLIDE_LAYOUT_CNT" val="1_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f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PRESET_TEXT" val="单击此处添加文本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3131_2*l_h_i*1_1_1"/>
  <p:tag name="KSO_WM_TEMPLATE_CATEGORY" val="diagram"/>
  <p:tag name="KSO_WM_TEMPLATE_INDEX" val="20233131"/>
  <p:tag name="KSO_WM_UNIT_LAYERLEVEL" val="1_1_1"/>
  <p:tag name="KSO_WM_TAG_VERSION" val="3.0"/>
  <p:tag name="KSO_WM_UNIT_TEXT_FILL_FORE_SCHEMECOLOR_INDEX_BRIGHTNESS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36.40000610351564,&quot;left&quot;:70.59503173828125,&quot;top&quot;:181.79999694824218,&quot;width&quot;:818.8099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USE_COLOR_VALUE" val="{&quot;color_scheme&quot;:1,&quot;color_type&quot;:1,&quot;theme_color_indexes&quot;:[5,6,5,6,5,6]}"/>
  <p:tag name="KSO_WM_UNIT_TEXT_FILL_FORE_SCHEMECOLOR_INDEX" val="1"/>
  <p:tag name="KSO_WM_UNIT_TEXT_FILL_TYPE" val="1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131_2*l_h_a*1_1_1"/>
  <p:tag name="KSO_WM_TEMPLATE_CATEGORY" val="diagram"/>
  <p:tag name="KSO_WM_TEMPLATE_INDEX" val="20233131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36.40000610351564,&quot;left&quot;:70.59503173828125,&quot;top&quot;:181.79999694824218,&quot;width&quot;:818.8099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DIAGRAM_USE_COLOR_VALUE" val="{&quot;color_scheme&quot;:1,&quot;color_type&quot;:1,&quot;theme_color_indexes&quot;:[5,6,5,6,5,6]}"/>
  <p:tag name="KSO_WM_UNIT_PRESET_TEXT" val="添加项标题"/>
  <p:tag name="KSO_WM_UNIT_TEXT_FILL_FORE_SCHEMECOLOR_INDEX" val="1"/>
  <p:tag name="KSO_WM_UNIT_TEXT_FILL_TYPE" val="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3131_2*l_h_i*1_2_1"/>
  <p:tag name="KSO_WM_TEMPLATE_CATEGORY" val="diagram"/>
  <p:tag name="KSO_WM_TEMPLATE_INDEX" val="20233131"/>
  <p:tag name="KSO_WM_UNIT_LAYERLEVEL" val="1_1_1"/>
  <p:tag name="KSO_WM_TAG_VERSION" val="3.0"/>
  <p:tag name="KSO_WM_UNIT_TEXT_FILL_FORE_SCHEMECOLOR_INDEX_BRIGHTNESS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36.40000610351564,&quot;left&quot;:70.59503173828125,&quot;top&quot;:181.79999694824218,&quot;width&quot;:818.8099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USE_COLOR_VALUE" val="{&quot;color_scheme&quot;:1,&quot;color_type&quot;:1,&quot;theme_color_indexes&quot;:[5,6,5,6,5,6]}"/>
  <p:tag name="KSO_WM_UNIT_TEXT_FILL_FORE_SCHEMECOLOR_INDEX" val="1"/>
  <p:tag name="KSO_WM_UNIT_TEXT_FILL_TYPE" val="1"/>
</p:tagLst>
</file>

<file path=ppt/tags/tag1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131_2*l_h_a*1_2_1"/>
  <p:tag name="KSO_WM_TEMPLATE_CATEGORY" val="diagram"/>
  <p:tag name="KSO_WM_TEMPLATE_INDEX" val="20233131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36.40000610351564,&quot;left&quot;:70.59503173828125,&quot;top&quot;:181.79999694824218,&quot;width&quot;:818.8099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DIAGRAM_USE_COLOR_VALUE" val="{&quot;color_scheme&quot;:1,&quot;color_type&quot;:1,&quot;theme_color_indexes&quot;:[5,6,5,6,5,6]}"/>
  <p:tag name="KSO_WM_UNIT_PRESET_TEXT" val="添加项标题"/>
  <p:tag name="KSO_WM_UNIT_TEXT_FILL_FORE_SCHEMECOLOR_INDEX" val="1"/>
  <p:tag name="KSO_WM_UNIT_TEXT_FILL_TYPE" val="1"/>
</p:tagLst>
</file>

<file path=ppt/tags/tag11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131_2*l_h_f*1_2_1"/>
  <p:tag name="KSO_WM_TEMPLATE_CATEGORY" val="diagram"/>
  <p:tag name="KSO_WM_TEMPLATE_INDEX" val="20233131"/>
  <p:tag name="KSO_WM_UNIT_LAYERLEVEL" val="1_1_1"/>
  <p:tag name="KSO_WM_TAG_VERSION" val="3.0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36.40000610351564,&quot;left&quot;:70.59503173828125,&quot;top&quot;:181.79999694824218,&quot;width&quot;:818.8099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DIAGRAM_USE_COLOR_VALUE" val="{&quot;color_scheme&quot;:1,&quot;color_type&quot;:1,&quot;theme_color_indexes&quot;:[5,6,5,6,5,6]}"/>
  <p:tag name="KSO_WM_UNIT_TEXT_LAYER_COUNT" val="1"/>
  <p:tag name="KSO_WM_UNIT_PRESET_TEXT" val="单击此处输入智能正文，文字是您思想的提炼，请尽量言简意赅的阐述观点。单击此处添加正文&#10;文字是您思想的提炼。单击此处输入智能正文，文字是您思想的提炼，请尽量言简意赅的阐述观点。单击此处添加正文"/>
  <p:tag name="KSO_WM_UNIT_TEXT_FILL_FORE_SCHEMECOLOR_INDEX" val="1"/>
  <p:tag name="KSO_WM_UNIT_TEXT_FILL_TYPE" val="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diagram20233131_2*l_h_i*1_3_1"/>
  <p:tag name="KSO_WM_TEMPLATE_CATEGORY" val="diagram"/>
  <p:tag name="KSO_WM_TEMPLATE_INDEX" val="20233131"/>
  <p:tag name="KSO_WM_UNIT_LAYERLEVEL" val="1_1_1"/>
  <p:tag name="KSO_WM_TAG_VERSION" val="3.0"/>
  <p:tag name="KSO_WM_UNIT_TEXT_FILL_FORE_SCHEMECOLOR_INDEX_BRIGHTNESS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36.40000610351564,&quot;left&quot;:70.59503173828125,&quot;top&quot;:181.79999694824218,&quot;width&quot;:818.8099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USE_COLOR_VALUE" val="{&quot;color_scheme&quot;:1,&quot;color_type&quot;:1,&quot;theme_color_indexes&quot;:[5,6,5,6,5,6]}"/>
  <p:tag name="KSO_WM_UNIT_TEXT_FILL_FORE_SCHEMECOLOR_INDEX" val="1"/>
  <p:tag name="KSO_WM_UNIT_TEXT_FILL_TYPE" val="1"/>
</p:tagLst>
</file>

<file path=ppt/tags/tag115.xml><?xml version="1.0" encoding="utf-8"?>
<p:tagLst xmlns:p="http://schemas.openxmlformats.org/presentationml/2006/main">
  <p:tag name="KSO_WM_UNIT_LINE_FORE_SCHEMECOLOR_INDEX_BRIGHTNESS" val="0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3131_2*l_h_i*1_1_2"/>
  <p:tag name="KSO_WM_TEMPLATE_CATEGORY" val="diagram"/>
  <p:tag name="KSO_WM_TEMPLATE_INDEX" val="202331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36.40000610351564,&quot;left&quot;:70.59503173828125,&quot;top&quot;:181.79999694824218,&quot;width&quot;:818.8099365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USE_COLOR_VALUE" val="{&quot;color_scheme&quot;:1,&quot;color_type&quot;:1,&quot;theme_color_indexes&quot;:[5,6,5,6,5,6]}"/>
  <p:tag name="KSO_WM_UNIT_LINE_FORE_SCHEMECOLOR_INDEX" val="5"/>
</p:tagLst>
</file>

<file path=ppt/tags/tag116.xml><?xml version="1.0" encoding="utf-8"?>
<p:tagLst xmlns:p="http://schemas.openxmlformats.org/presentationml/2006/main">
  <p:tag name="KSO_WM_UNIT_LINE_FORE_SCHEMECOLOR_INDEX_BRIGHTNESS" val="0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3131_2*l_h_i*1_2_2"/>
  <p:tag name="KSO_WM_TEMPLATE_CATEGORY" val="diagram"/>
  <p:tag name="KSO_WM_TEMPLATE_INDEX" val="202331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36.40000610351564,&quot;left&quot;:70.59503173828125,&quot;top&quot;:181.79999694824218,&quot;width&quot;:818.8099365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USE_COLOR_VALUE" val="{&quot;color_scheme&quot;:1,&quot;color_type&quot;:1,&quot;theme_color_indexes&quot;:[5,6,5,6,5,6]}"/>
  <p:tag name="KSO_WM_UNIT_LINE_FORE_SCHEMECOLOR_INDEX" val="5"/>
</p:tagLst>
</file>

<file path=ppt/tags/tag117.xml><?xml version="1.0" encoding="utf-8"?>
<p:tagLst xmlns:p="http://schemas.openxmlformats.org/presentationml/2006/main">
  <p:tag name="KSO_WM_UNIT_LINE_FORE_SCHEMECOLOR_INDEX_BRIGHTNESS" val="0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3131_2*l_h_i*1_3_2"/>
  <p:tag name="KSO_WM_TEMPLATE_CATEGORY" val="diagram"/>
  <p:tag name="KSO_WM_TEMPLATE_INDEX" val="202331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36.40000610351564,&quot;left&quot;:70.59503173828125,&quot;top&quot;:181.79999694824218,&quot;width&quot;:818.8099365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USE_COLOR_VALUE" val="{&quot;color_scheme&quot;:1,&quot;color_type&quot;:1,&quot;theme_color_indexes&quot;:[5,6,5,6,5,6]}"/>
  <p:tag name="KSO_WM_UNIT_LINE_FORE_SCHEMECOLOR_INDEX" val="5"/>
</p:tagLst>
</file>

<file path=ppt/tags/tag1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3131_2*l_h_a*1_3_1"/>
  <p:tag name="KSO_WM_TEMPLATE_CATEGORY" val="diagram"/>
  <p:tag name="KSO_WM_TEMPLATE_INDEX" val="20233131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36.40000610351564,&quot;left&quot;:70.59503173828125,&quot;top&quot;:181.79999694824218,&quot;width&quot;:818.8099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DIAGRAM_USE_COLOR_VALUE" val="{&quot;color_scheme&quot;:1,&quot;color_type&quot;:1,&quot;theme_color_indexes&quot;:[5,6,5,6,5,6]}"/>
  <p:tag name="KSO_WM_UNIT_PRESET_TEXT" val="添加项标题"/>
  <p:tag name="KSO_WM_UNIT_TEXT_FILL_FORE_SCHEMECOLOR_INDEX" val="1"/>
  <p:tag name="KSO_WM_UNIT_TEXT_FILL_TYPE" val="1"/>
</p:tagLst>
</file>

<file path=ppt/tags/tag11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3131_2*l_h_f*1_3_1"/>
  <p:tag name="KSO_WM_TEMPLATE_CATEGORY" val="diagram"/>
  <p:tag name="KSO_WM_TEMPLATE_INDEX" val="20233131"/>
  <p:tag name="KSO_WM_UNIT_LAYERLEVEL" val="1_1_1"/>
  <p:tag name="KSO_WM_TAG_VERSION" val="3.0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36.40000610351564,&quot;left&quot;:70.59503173828125,&quot;top&quot;:181.79999694824218,&quot;width&quot;:818.8099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DIAGRAM_USE_COLOR_VALUE" val="{&quot;color_scheme&quot;:1,&quot;color_type&quot;:1,&quot;theme_color_indexes&quot;:[5,6,5,6,5,6]}"/>
  <p:tag name="KSO_WM_UNIT_TEXT_LAYER_COUNT" val="1"/>
  <p:tag name="KSO_WM_UNIT_PRESET_TEXT" val="单击此处输入智能正文，文字是您思想的提炼，请尽量言简意赅的阐述观点。单击此处添加正文文字是您思想的提炼&#10;文字是您思想的提炼。单击此处输入智能正文，文字是您思想的提炼，请尽量言简意赅的阐述观点。"/>
  <p:tag name="KSO_WM_UNIT_TEXT_FILL_FORE_SCHEMECOLOR_INDEX" val="1"/>
  <p:tag name="KSO_WM_UNIT_TEXT_FILL_TYPE" val="1"/>
</p:tagLst>
</file>

<file path=ppt/tags/tag12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131_2*l_h_f*1_1_1"/>
  <p:tag name="KSO_WM_TEMPLATE_CATEGORY" val="diagram"/>
  <p:tag name="KSO_WM_TEMPLATE_INDEX" val="20233131"/>
  <p:tag name="KSO_WM_UNIT_LAYERLEVEL" val="1_1_1"/>
  <p:tag name="KSO_WM_TAG_VERSION" val="3.0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36.40000610351564,&quot;left&quot;:70.59503173828125,&quot;top&quot;:181.79999694824218,&quot;width&quot;:818.8099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DIAGRAM_USE_COLOR_VALUE" val="{&quot;color_scheme&quot;:1,&quot;color_type&quot;:1,&quot;theme_color_indexes&quot;:[5,6,5,6,5,6]}"/>
  <p:tag name="KSO_WM_UNIT_TEXT_LAYER_COUNT" val="1"/>
  <p:tag name="KSO_WM_UNIT_PRESET_TEXT" val="单击此处输入智能正文，文字是您思想的提炼，请尽量言简意赅的阐述观点。单击此处添加正文文字是您思想的提炼&#10;文字是您思想的提炼。单击此处输入智能正文，文字是您思想的提炼，请尽量言简意赅的阐述观点。"/>
  <p:tag name="KSO_WM_UNIT_TEXT_FILL_FORE_SCHEMECOLOR_INDEX" val="1"/>
  <p:tag name="KSO_WM_UNIT_TEXT_FILL_TYPE" val="1"/>
</p:tagLst>
</file>

<file path=ppt/tags/tag121.xml><?xml version="1.0" encoding="utf-8"?>
<p:tagLst xmlns:p="http://schemas.openxmlformats.org/presentationml/2006/main"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9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resource_record_key" val="{&quot;65&quot;:[20233299],&quot;70&quot;:[3322023]}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f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PRESET_TEXT" val="单击此处添加文本"/>
</p:tagLst>
</file>

<file path=ppt/tags/tag124.xml><?xml version="1.0" encoding="utf-8"?>
<p:tagLst xmlns:p="http://schemas.openxmlformats.org/presentationml/2006/main">
  <p:tag name="TABLE_ENDDRAG_ORIGIN_RECT" val="861*281"/>
  <p:tag name="TABLE_ENDDRAG_RECT" val="45*203*861*281"/>
</p:tagLst>
</file>

<file path=ppt/tags/tag125.xml><?xml version="1.0" encoding="utf-8"?>
<p:tagLst xmlns:p="http://schemas.openxmlformats.org/presentationml/2006/main"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9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resource_record_key" val="{&quot;65&quot;:[20233299],&quot;70&quot;:[3322023]}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7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12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299_7*e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" val="01"/>
</p:tagLst>
</file>

<file path=ppt/tags/tag128.xml><?xml version="1.0" encoding="utf-8"?>
<p:tagLst xmlns:p="http://schemas.openxmlformats.org/presentationml/2006/main">
  <p:tag name="KSO_WM_SLIDE_ID" val="custom2023329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299"/>
  <p:tag name="KSO_WM_SLIDE_TYPE" val="sectionTitle"/>
  <p:tag name="KSO_WM_SLIDE_SUBTYPE" val="pureTxt"/>
  <p:tag name="KSO_WM_SLIDE_LAYOUT" val="a_e"/>
  <p:tag name="KSO_WM_SLIDE_LAYOUT_CNT" val="1_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f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PRESET_TEXT" val="单击此处添加文本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f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PRESET_TEXT" val="单击此处添加文本"/>
</p:tagLst>
</file>

<file path=ppt/tags/tag132.xml><?xml version="1.0" encoding="utf-8"?>
<p:tagLst xmlns:p="http://schemas.openxmlformats.org/presentationml/2006/main"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9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resource_record_key" val="{&quot;65&quot;:[20233299],&quot;70&quot;:[3327932]}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f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PRESET_TEXT" val="单击此处添加文本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f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PRESET_TEXT" val="单击此处添加文本"/>
</p:tagLst>
</file>

<file path=ppt/tags/tag136.xml><?xml version="1.0" encoding="utf-8"?>
<p:tagLst xmlns:p="http://schemas.openxmlformats.org/presentationml/2006/main">
  <p:tag name="TABLE_ENDDRAG_ORIGIN_RECT" val="759*205"/>
  <p:tag name="TABLE_ENDDRAG_RECT" val="62*293*759*205"/>
</p:tagLst>
</file>

<file path=ppt/tags/tag137.xml><?xml version="1.0" encoding="utf-8"?>
<p:tagLst xmlns:p="http://schemas.openxmlformats.org/presentationml/2006/main"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9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resource_record_key" val="{&quot;65&quot;:[20233299],&quot;70&quot;:[3327932]}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f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PRESET_TEXT" val="单击此处添加文本"/>
</p:tagLst>
</file>

<file path=ppt/tags/tag140.xml><?xml version="1.0" encoding="utf-8"?>
<p:tagLst xmlns:p="http://schemas.openxmlformats.org/presentationml/2006/main"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9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resource_record_key" val="{&quot;65&quot;:[20233299],&quot;70&quot;:[3327932]}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9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  <p:tag name="KSO_WM_UNIT_PRESET_TEXT" val="感谢观看"/>
</p:tagLst>
</file>

<file path=ppt/tags/tag142.xml><?xml version="1.0" encoding="utf-8"?>
<p:tagLst xmlns:p="http://schemas.openxmlformats.org/presentationml/2006/main">
  <p:tag name="KSO_WM_SLIDE_ID" val="custom20233299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299"/>
  <p:tag name="KSO_WM_SLIDE_TYPE" val="endPage"/>
  <p:tag name="KSO_WM_SLIDE_SUBTYPE" val="pureTxt"/>
  <p:tag name="KSO_WM_SLIDE_LAYOUT" val="a_f"/>
  <p:tag name="KSO_WM_SLIDE_LAYOUT_CNT" val="1_1"/>
</p:tagLst>
</file>

<file path=ppt/tags/tag143.xml><?xml version="1.0" encoding="utf-8"?>
<p:tagLst xmlns:p="http://schemas.openxmlformats.org/presentationml/2006/main">
  <p:tag name="COMMONDATA" val="eyJoZGlkIjoiNDI5NWRkZTcwODE2MmNjNzQ5MjZmZjg0M2ZhZjlhMjYifQ=="/>
  <p:tag name="commondata" val="eyJoZGlkIjoiZDRhOTg3NTU1ZjU1YmMxY2E1NGUyNjkzNDM1OGJhNWQifQ=="/>
  <p:tag name="resource_record_key" val="{&quot;65&quot;:[20233299],&quot;70&quot;:[3327932,3318295,3322023,3322027]}"/>
</p:tagLst>
</file>

<file path=ppt/theme/theme1.xml><?xml version="1.0" encoding="utf-8"?>
<a:theme xmlns:a="http://schemas.openxmlformats.org/drawingml/2006/main" name="Office 主题​​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自定义 45">
      <a:majorFont>
        <a:latin typeface="MiSans Demibold"/>
        <a:ea typeface="微软雅黑"/>
        <a:cs typeface=""/>
      </a:majorFont>
      <a:minorFont>
        <a:latin typeface="MiSans Demibold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5101</Words>
  <Application>WPS 演示</Application>
  <PresentationFormat>宽屏</PresentationFormat>
  <Paragraphs>396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Wingdings</vt:lpstr>
      <vt:lpstr>仿宋</vt:lpstr>
      <vt:lpstr>Cambria Math</vt:lpstr>
      <vt:lpstr>MiSans Demibold</vt:lpstr>
      <vt:lpstr>Arial Unicode MS</vt:lpstr>
      <vt:lpstr>等线</vt:lpstr>
      <vt:lpstr>Noto Sans SC</vt:lpstr>
      <vt:lpstr>Calibri</vt:lpstr>
      <vt:lpstr>Office 主题​​</vt:lpstr>
      <vt:lpstr>PyTorch深度学习</vt:lpstr>
      <vt:lpstr>目录</vt:lpstr>
      <vt:lpstr>概述</vt:lpstr>
      <vt:lpstr>概述</vt:lpstr>
      <vt:lpstr>概述</vt:lpstr>
      <vt:lpstr>概述---什么是CT</vt:lpstr>
      <vt:lpstr>概述---数据采集</vt:lpstr>
      <vt:lpstr>概述---图像重建</vt:lpstr>
      <vt:lpstr>CT成像过程</vt:lpstr>
      <vt:lpstr>概述---图像形成</vt:lpstr>
      <vt:lpstr>病人坐标系和窗位、窗宽---病人坐标系</vt:lpstr>
      <vt:lpstr>原始CT扫描文件</vt:lpstr>
      <vt:lpstr>原始CT扫描文件</vt:lpstr>
      <vt:lpstr>原始CT扫描文件---我们项目中使用CT文件格式</vt:lpstr>
      <vt:lpstr>加载单个CT扫描文件</vt:lpstr>
      <vt:lpstr>加载单个CT扫描文件---原始CT扫描文件的数据组织形式</vt:lpstr>
      <vt:lpstr>加载单个CT扫描文件---亨氏单位</vt:lpstr>
      <vt:lpstr>加载单个CT扫描文件---CT扫描的形状和体素大小</vt:lpstr>
      <vt:lpstr>感谢观看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单击此处添加文档标题</dc:title>
  <dc:creator>O365</dc:creator>
  <cp:lastModifiedBy>李永春</cp:lastModifiedBy>
  <cp:revision>479</cp:revision>
  <dcterms:created xsi:type="dcterms:W3CDTF">2023-07-18T08:08:00Z</dcterms:created>
  <dcterms:modified xsi:type="dcterms:W3CDTF">2026-05-25T14:39:49Z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FB3FD88EB52046FC873F4CEFBB606E5B_13</vt:lpwstr>
  </property>
  <property fmtid="{D5CDD505-2E9C-101B-9397-08002B2CF9AE}" pid="3" name="KSOProductBuildVer">
    <vt:lpwstr>2052-12.1.0.26375</vt:lpwstr>
  </property>
</Properties>
</file>